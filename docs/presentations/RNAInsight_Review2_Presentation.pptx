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1" r:id="rId3"/>
    <p:sldId id="267" r:id="rId4"/>
    <p:sldId id="272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5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F4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01" y="3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19" y="1065208"/>
            <a:ext cx="10275400" cy="3185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500" b="1">
                <a:solidFill>
                  <a:srgbClr val="FFFFFF"/>
                </a:solidFill>
                <a:latin typeface="Aptos Display"/>
              </a:defRPr>
            </a:pPr>
            <a:r>
              <a:rPr dirty="0" err="1"/>
              <a:t>RNAInsight</a:t>
            </a:r>
            <a:endParaRPr dirty="0"/>
          </a:p>
          <a:p>
            <a:pPr>
              <a:defRPr sz="2900" b="1">
                <a:solidFill>
                  <a:srgbClr val="DCEBFA"/>
                </a:solidFill>
                <a:latin typeface="Aptos Display"/>
              </a:defRPr>
            </a:pPr>
            <a:r>
              <a:rPr lang="en-IN" dirty="0"/>
              <a:t>Machine Learning Based </a:t>
            </a:r>
            <a:r>
              <a:rPr dirty="0"/>
              <a:t>RNA Target-Family Classification</a:t>
            </a:r>
            <a:r>
              <a:rPr lang="en-IN" dirty="0"/>
              <a:t> Using Molecular Descriptors</a:t>
            </a:r>
            <a:endParaRPr dirty="0"/>
          </a:p>
          <a:p>
            <a:pPr>
              <a:defRPr sz="1250" b="0">
                <a:solidFill>
                  <a:srgbClr val="B9C8DC"/>
                </a:solidFill>
                <a:latin typeface="Aptos"/>
              </a:defRPr>
            </a:pPr>
            <a:endParaRPr lang="en-IN" dirty="0"/>
          </a:p>
          <a:p>
            <a:pPr>
              <a:defRPr sz="1250" b="0">
                <a:solidFill>
                  <a:srgbClr val="B9C8DC"/>
                </a:solidFill>
                <a:latin typeface="Aptos"/>
              </a:defRPr>
            </a:pPr>
            <a:endParaRPr lang="en-IN" dirty="0"/>
          </a:p>
          <a:p>
            <a:pPr>
              <a:defRPr sz="1250" b="0">
                <a:solidFill>
                  <a:srgbClr val="B9C8DC"/>
                </a:solidFill>
                <a:latin typeface="Aptos"/>
              </a:defRPr>
            </a:pPr>
            <a:endParaRPr lang="en-IN" dirty="0"/>
          </a:p>
          <a:p>
            <a:pPr>
              <a:defRPr sz="1250" b="0">
                <a:solidFill>
                  <a:srgbClr val="B9C8DC"/>
                </a:solidFill>
                <a:latin typeface="Aptos"/>
              </a:defRPr>
            </a:pPr>
            <a:endParaRPr lang="en-IN" dirty="0"/>
          </a:p>
          <a:p>
            <a:pPr>
              <a:defRPr sz="1250" b="0">
                <a:solidFill>
                  <a:srgbClr val="B9C8DC"/>
                </a:solidFill>
                <a:latin typeface="Aptos"/>
              </a:defRPr>
            </a:pPr>
            <a:endParaRPr lang="en-IN" sz="1600" b="1" dirty="0"/>
          </a:p>
          <a:p>
            <a:pPr>
              <a:defRPr sz="1250" b="0">
                <a:solidFill>
                  <a:srgbClr val="B9C8DC"/>
                </a:solidFill>
                <a:latin typeface="Aptos"/>
              </a:defRPr>
            </a:pPr>
            <a:r>
              <a:rPr lang="en-IN" sz="1600" b="1" dirty="0"/>
              <a:t>Sumedha Phadnis - 24BDS1104</a:t>
            </a:r>
          </a:p>
          <a:p>
            <a:pPr>
              <a:defRPr sz="1250" b="0">
                <a:solidFill>
                  <a:srgbClr val="B9C8DC"/>
                </a:solidFill>
                <a:latin typeface="Aptos"/>
              </a:defRPr>
            </a:pPr>
            <a:r>
              <a:rPr lang="en-IN" sz="1600" b="1" dirty="0"/>
              <a:t>Priyanka J – 24BDS1032</a:t>
            </a:r>
            <a:endParaRPr sz="1600" b="1" dirty="0"/>
          </a:p>
        </p:txBody>
      </p:sp>
      <p:sp>
        <p:nvSpPr>
          <p:cNvPr id="7" name="Rounded Rectangle 6"/>
          <p:cNvSpPr/>
          <p:nvPr/>
        </p:nvSpPr>
        <p:spPr>
          <a:xfrm>
            <a:off x="777240" y="5257800"/>
            <a:ext cx="28346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824" y="5342552"/>
            <a:ext cx="25603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B60A4"/>
                </a:solidFill>
                <a:latin typeface="Aptos Display"/>
              </a:defRPr>
            </a:pPr>
            <a:r>
              <a:rPr dirty="0"/>
              <a:t>13</a:t>
            </a:r>
          </a:p>
          <a:p>
            <a:pPr>
              <a:defRPr sz="1050" b="1">
                <a:solidFill>
                  <a:srgbClr val="12223D"/>
                </a:solidFill>
                <a:latin typeface="Aptos"/>
              </a:defRPr>
            </a:pPr>
            <a:r>
              <a:rPr dirty="0"/>
              <a:t>Models benchmarked</a:t>
            </a:r>
          </a:p>
          <a:p>
            <a:pPr>
              <a:defRPr sz="869">
                <a:solidFill>
                  <a:srgbClr val="5B6777"/>
                </a:solidFill>
                <a:latin typeface="Aptos"/>
              </a:defRPr>
            </a:pPr>
            <a:r>
              <a:rPr dirty="0"/>
              <a:t>plus </a:t>
            </a:r>
            <a:r>
              <a:rPr dirty="0" err="1"/>
              <a:t>XGBoost</a:t>
            </a:r>
            <a:r>
              <a:rPr dirty="0"/>
              <a:t> attempt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0" y="5257800"/>
            <a:ext cx="28346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996064" y="5342552"/>
            <a:ext cx="2560320" cy="726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07E5B"/>
                </a:solidFill>
                <a:latin typeface="Aptos Display"/>
              </a:defRPr>
            </a:pPr>
            <a:r>
              <a:rPr dirty="0"/>
              <a:t>57.2%</a:t>
            </a:r>
          </a:p>
          <a:p>
            <a:pPr>
              <a:defRPr sz="1050" b="1">
                <a:solidFill>
                  <a:srgbClr val="12223D"/>
                </a:solidFill>
                <a:latin typeface="Aptos"/>
              </a:defRPr>
            </a:pPr>
            <a:r>
              <a:rPr dirty="0"/>
              <a:t>Best CV accuracy</a:t>
            </a:r>
          </a:p>
          <a:p>
            <a:pPr>
              <a:defRPr sz="869">
                <a:solidFill>
                  <a:srgbClr val="5B6777"/>
                </a:solidFill>
                <a:latin typeface="Aptos"/>
              </a:defRPr>
            </a:pPr>
            <a:r>
              <a:rPr dirty="0"/>
              <a:t>Random Forest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03720" y="5257800"/>
            <a:ext cx="28346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059304" y="5342552"/>
            <a:ext cx="25603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DB822B"/>
                </a:solidFill>
                <a:latin typeface="Aptos Display"/>
              </a:defRPr>
            </a:pPr>
            <a:r>
              <a:t>62.8%</a:t>
            </a:r>
          </a:p>
          <a:p>
            <a:pPr>
              <a:defRPr sz="1050" b="1">
                <a:solidFill>
                  <a:srgbClr val="12223D"/>
                </a:solidFill>
                <a:latin typeface="Aptos"/>
              </a:defRPr>
            </a:pPr>
            <a:r>
              <a:rPr dirty="0"/>
              <a:t>Best test accuracy</a:t>
            </a:r>
          </a:p>
          <a:p>
            <a:pPr>
              <a:defRPr sz="869">
                <a:solidFill>
                  <a:srgbClr val="5B6777"/>
                </a:solidFill>
                <a:latin typeface="Aptos"/>
              </a:defRPr>
            </a:pPr>
            <a:r>
              <a:rPr dirty="0"/>
              <a:t>C5.0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C7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743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23D"/>
                </a:solidFill>
                <a:latin typeface="Aptos Display"/>
              </a:defRPr>
            </a:pPr>
            <a:r>
              <a:t>Feature Engineering &amp; Feature Selection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32104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20">
                <a:solidFill>
                  <a:srgbClr val="5B6777"/>
                </a:solidFill>
                <a:latin typeface="Aptos"/>
              </a:defRPr>
            </a:pPr>
            <a:r>
              <a:t>From the original molecular descriptor space to a compact, interpretable feature set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34440"/>
            <a:ext cx="1874519" cy="347472"/>
          </a:xfrm>
          <a:prstGeom prst="roundRect">
            <a:avLst/>
          </a:prstGeom>
          <a:solidFill>
            <a:srgbClr val="1C7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7710" y="1302816"/>
            <a:ext cx="1739579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rPr dirty="0"/>
              <a:t>DESCRIPTOR CONSTRUCTION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64208"/>
            <a:ext cx="31546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3592" y="1794408"/>
            <a:ext cx="2737059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C7E8C"/>
                </a:solidFill>
                <a:latin typeface="Aptos Display"/>
              </a:defRPr>
            </a:pPr>
            <a:r>
              <a:rPr sz="2400" dirty="0"/>
              <a:t>1</a:t>
            </a:r>
            <a:r>
              <a:rPr lang="en-IN" sz="2400" dirty="0"/>
              <a:t>4</a:t>
            </a:r>
            <a:r>
              <a:rPr sz="2400" dirty="0"/>
              <a:t> descriptors</a:t>
            </a:r>
          </a:p>
          <a:p>
            <a:pPr>
              <a:defRPr sz="1000" b="1">
                <a:solidFill>
                  <a:srgbClr val="12223D"/>
                </a:solidFill>
                <a:latin typeface="Aptos"/>
              </a:defRPr>
            </a:pPr>
            <a:r>
              <a:rPr sz="1050" dirty="0"/>
              <a:t>Retained feature space</a:t>
            </a:r>
          </a:p>
          <a:p>
            <a:pPr>
              <a:defRPr sz="850">
                <a:solidFill>
                  <a:srgbClr val="5B6777"/>
                </a:solidFill>
                <a:latin typeface="Aptos"/>
              </a:defRPr>
            </a:pPr>
            <a:r>
              <a:rPr sz="900" dirty="0"/>
              <a:t>Molecular / physicochemical descriptors used for classification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77639" y="1664208"/>
            <a:ext cx="31546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46872" y="1794408"/>
            <a:ext cx="2770310" cy="76174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B60A4"/>
                </a:solidFill>
                <a:latin typeface="Aptos Display"/>
              </a:defRPr>
            </a:pPr>
            <a:r>
              <a:rPr sz="2400"/>
              <a:t>RNA family</a:t>
            </a:r>
          </a:p>
          <a:p>
            <a:pPr>
              <a:defRPr sz="1000" b="1">
                <a:solidFill>
                  <a:srgbClr val="12223D"/>
                </a:solidFill>
                <a:latin typeface="Aptos"/>
              </a:defRPr>
            </a:pPr>
            <a:r>
              <a:rPr sz="1050"/>
              <a:t>Target</a:t>
            </a:r>
          </a:p>
          <a:p>
            <a:pPr>
              <a:defRPr sz="850">
                <a:solidFill>
                  <a:srgbClr val="5B6777"/>
                </a:solidFill>
                <a:latin typeface="Aptos"/>
              </a:defRPr>
            </a:pPr>
            <a:r>
              <a:rPr sz="900"/>
              <a:t>Multi-class classification across RNA target families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60920" y="1664208"/>
            <a:ext cx="3059146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530152" y="1794408"/>
            <a:ext cx="2560316" cy="76174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67509D"/>
                </a:solidFill>
                <a:latin typeface="Aptos Display"/>
              </a:defRPr>
            </a:pPr>
            <a:r>
              <a:rPr sz="2400" dirty="0"/>
              <a:t>~6</a:t>
            </a:r>
            <a:r>
              <a:rPr lang="en-IN" sz="2400" dirty="0"/>
              <a:t>0</a:t>
            </a:r>
            <a:r>
              <a:rPr sz="2400" dirty="0"/>
              <a:t>5 + ~145</a:t>
            </a:r>
          </a:p>
          <a:p>
            <a:pPr>
              <a:defRPr sz="1000" b="1">
                <a:solidFill>
                  <a:srgbClr val="12223D"/>
                </a:solidFill>
                <a:latin typeface="Aptos"/>
              </a:defRPr>
            </a:pPr>
            <a:r>
              <a:rPr sz="1050" dirty="0"/>
              <a:t>Validation design</a:t>
            </a:r>
          </a:p>
          <a:p>
            <a:pPr>
              <a:defRPr sz="850">
                <a:solidFill>
                  <a:srgbClr val="5B6777"/>
                </a:solidFill>
                <a:latin typeface="Aptos"/>
              </a:defRPr>
            </a:pPr>
            <a:r>
              <a:rPr sz="900" dirty="0"/>
              <a:t>Training set with repeated CV + held-out test set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2971800"/>
            <a:ext cx="2743200" cy="347472"/>
          </a:xfrm>
          <a:prstGeom prst="roundRect">
            <a:avLst/>
          </a:prstGeom>
          <a:solidFill>
            <a:srgbClr val="DB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9809" y="3040176"/>
            <a:ext cx="2424062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rPr dirty="0"/>
              <a:t>FEATURE SELECTION / REDUNDANCY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429000"/>
            <a:ext cx="5257800" cy="21031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500"/>
              </a:spcAft>
              <a:buFont typeface="Arial" panose="020B0604020202020204" pitchFamily="34" charset="0"/>
              <a:buChar char="•"/>
              <a:defRPr sz="1140">
                <a:solidFill>
                  <a:srgbClr val="1D2229"/>
                </a:solidFill>
                <a:latin typeface="Aptos"/>
              </a:defRPr>
            </a:pPr>
            <a:r>
              <a:rPr dirty="0"/>
              <a:t>Descriptors were retained after a collinearity-filtering step to reduce redundant predictors.</a:t>
            </a:r>
          </a:p>
          <a:p>
            <a:pPr marL="171450" indent="-171450">
              <a:spcAft>
                <a:spcPts val="500"/>
              </a:spcAft>
              <a:buFont typeface="Arial" panose="020B0604020202020204" pitchFamily="34" charset="0"/>
              <a:buChar char="•"/>
              <a:defRPr sz="1140">
                <a:solidFill>
                  <a:srgbClr val="1D2229"/>
                </a:solidFill>
                <a:latin typeface="Aptos"/>
              </a:defRPr>
            </a:pPr>
            <a:r>
              <a:rPr dirty="0"/>
              <a:t>Deeper PCA analysis revealed that PC15 explains exactly 0% of variance, indicating the retained feature matrix has rank 14 rather than 15.</a:t>
            </a:r>
          </a:p>
          <a:p>
            <a:pPr marL="171450" indent="-171450">
              <a:spcAft>
                <a:spcPts val="500"/>
              </a:spcAft>
              <a:buFont typeface="Arial" panose="020B0604020202020204" pitchFamily="34" charset="0"/>
              <a:buChar char="•"/>
              <a:defRPr sz="1140">
                <a:solidFill>
                  <a:srgbClr val="1D2229"/>
                </a:solidFill>
                <a:latin typeface="Aptos"/>
              </a:defRPr>
            </a:pPr>
            <a:r>
              <a:rPr dirty="0"/>
              <a:t>The most likely structural redundancy is </a:t>
            </a:r>
            <a:r>
              <a:rPr dirty="0" err="1"/>
              <a:t>RingCount</a:t>
            </a:r>
            <a:r>
              <a:rPr dirty="0"/>
              <a:t> = </a:t>
            </a:r>
            <a:r>
              <a:rPr dirty="0" err="1"/>
              <a:t>NumAromaticRings</a:t>
            </a:r>
            <a:r>
              <a:rPr dirty="0"/>
              <a:t> + </a:t>
            </a:r>
            <a:r>
              <a:rPr dirty="0" err="1"/>
              <a:t>NumAliphaticRings</a:t>
            </a:r>
            <a:r>
              <a:rPr dirty="0"/>
              <a:t>.</a:t>
            </a:r>
          </a:p>
          <a:p>
            <a:pPr marL="171450" indent="-171450">
              <a:spcAft>
                <a:spcPts val="500"/>
              </a:spcAft>
              <a:buFont typeface="Arial" panose="020B0604020202020204" pitchFamily="34" charset="0"/>
              <a:buChar char="•"/>
              <a:defRPr sz="1140">
                <a:solidFill>
                  <a:srgbClr val="1D2229"/>
                </a:solidFill>
                <a:latin typeface="Aptos"/>
              </a:defRPr>
            </a:pPr>
            <a:r>
              <a:rPr dirty="0"/>
              <a:t>This is an algebraic dependency, so a simple pairwise-correlation filter may not remove it.</a:t>
            </a:r>
          </a:p>
          <a:p>
            <a:pPr marL="171450" indent="-171450">
              <a:spcAft>
                <a:spcPts val="500"/>
              </a:spcAft>
              <a:buFont typeface="Arial" panose="020B0604020202020204" pitchFamily="34" charset="0"/>
              <a:buChar char="•"/>
              <a:defRPr sz="1140">
                <a:solidFill>
                  <a:srgbClr val="1D2229"/>
                </a:solidFill>
                <a:latin typeface="Aptos"/>
              </a:defRPr>
            </a:pPr>
            <a:r>
              <a:rPr dirty="0"/>
              <a:t>Recommended refinement: remove </a:t>
            </a:r>
            <a:r>
              <a:rPr dirty="0" err="1"/>
              <a:t>RingCount</a:t>
            </a:r>
            <a:r>
              <a:rPr dirty="0"/>
              <a:t> or one of its component counts and rerun PCA / model training.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2971800"/>
            <a:ext cx="3154680" cy="347472"/>
          </a:xfrm>
          <a:prstGeom prst="roundRect">
            <a:avLst/>
          </a:prstGeom>
          <a:solidFill>
            <a:srgbClr val="6750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47898" y="3040176"/>
            <a:ext cx="2735043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rPr dirty="0"/>
              <a:t>WHAT THE ANALYSIS SAYS ABOUT THE FEATURES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3429000"/>
            <a:ext cx="5120640" cy="2278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500"/>
              </a:spcAft>
              <a:buFont typeface="Arial" panose="020B0604020202020204" pitchFamily="34" charset="0"/>
              <a:buChar char="•"/>
              <a:defRPr sz="1140">
                <a:solidFill>
                  <a:srgbClr val="1D2229"/>
                </a:solidFill>
                <a:latin typeface="Aptos"/>
              </a:defRPr>
            </a:pPr>
            <a:r>
              <a:rPr dirty="0"/>
              <a:t>All descriptors showed statistically significant family-level differences under Kruskal–Wallis after BH adjustment.</a:t>
            </a:r>
          </a:p>
          <a:p>
            <a:pPr marL="171450" indent="-171450">
              <a:spcAft>
                <a:spcPts val="500"/>
              </a:spcAft>
              <a:buFont typeface="Arial" panose="020B0604020202020204" pitchFamily="34" charset="0"/>
              <a:buChar char="•"/>
              <a:defRPr sz="1140">
                <a:solidFill>
                  <a:srgbClr val="1D2229"/>
                </a:solidFill>
                <a:latin typeface="Aptos"/>
              </a:defRPr>
            </a:pPr>
            <a:r>
              <a:rPr dirty="0" err="1"/>
              <a:t>NumAromaticRings</a:t>
            </a:r>
            <a:r>
              <a:rPr dirty="0"/>
              <a:t>, FractionCSP3, </a:t>
            </a:r>
            <a:r>
              <a:rPr dirty="0" err="1"/>
              <a:t>RingCount</a:t>
            </a:r>
            <a:r>
              <a:rPr dirty="0"/>
              <a:t> and </a:t>
            </a:r>
            <a:r>
              <a:rPr dirty="0" err="1"/>
              <a:t>RotatableBonds</a:t>
            </a:r>
            <a:r>
              <a:rPr dirty="0"/>
              <a:t> showed relatively larger univariate effects.</a:t>
            </a:r>
          </a:p>
          <a:p>
            <a:pPr marL="171450" indent="-171450">
              <a:spcAft>
                <a:spcPts val="500"/>
              </a:spcAft>
              <a:buFont typeface="Arial" panose="020B0604020202020204" pitchFamily="34" charset="0"/>
              <a:buChar char="•"/>
              <a:defRPr sz="1140">
                <a:solidFill>
                  <a:srgbClr val="1D2229"/>
                </a:solidFill>
                <a:latin typeface="Aptos"/>
              </a:defRPr>
            </a:pPr>
            <a:r>
              <a:rPr dirty="0"/>
              <a:t>However, univariate statistical ranking and model importance had essentially no agreement: Spearman ρ ≈ 0.004.</a:t>
            </a:r>
          </a:p>
          <a:p>
            <a:pPr marL="171450" indent="-171450">
              <a:spcAft>
                <a:spcPts val="500"/>
              </a:spcAft>
              <a:buFont typeface="Arial" panose="020B0604020202020204" pitchFamily="34" charset="0"/>
              <a:buChar char="•"/>
              <a:defRPr sz="1140">
                <a:solidFill>
                  <a:srgbClr val="1D2229"/>
                </a:solidFill>
                <a:latin typeface="Aptos"/>
              </a:defRPr>
            </a:pPr>
            <a:r>
              <a:rPr dirty="0"/>
              <a:t>Random Forest distributed importance across FractionCSP3, </a:t>
            </a:r>
            <a:r>
              <a:rPr dirty="0" err="1"/>
              <a:t>FlexibilityIndex</a:t>
            </a:r>
            <a:r>
              <a:rPr dirty="0"/>
              <a:t>, </a:t>
            </a:r>
            <a:r>
              <a:rPr dirty="0" err="1"/>
              <a:t>TPSA_per_MW</a:t>
            </a:r>
            <a:r>
              <a:rPr dirty="0"/>
              <a:t> and </a:t>
            </a:r>
            <a:r>
              <a:rPr dirty="0" err="1"/>
              <a:t>MolMR</a:t>
            </a:r>
            <a:r>
              <a:rPr dirty="0"/>
              <a:t>, while C5.0 was dominated by TPSA.</a:t>
            </a:r>
          </a:p>
          <a:p>
            <a:pPr marL="171450" indent="-171450">
              <a:spcAft>
                <a:spcPts val="500"/>
              </a:spcAft>
              <a:buFont typeface="Arial" panose="020B0604020202020204" pitchFamily="34" charset="0"/>
              <a:buChar char="•"/>
              <a:defRPr sz="1140">
                <a:solidFill>
                  <a:srgbClr val="1D2229"/>
                </a:solidFill>
                <a:latin typeface="Aptos"/>
              </a:defRPr>
            </a:pPr>
            <a:r>
              <a:rPr dirty="0"/>
              <a:t>Therefore, feature importance captures multivariate predictive utility, not simply the largest individual group differences.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5989320"/>
            <a:ext cx="10744200" cy="411480"/>
          </a:xfrm>
          <a:prstGeom prst="roundRect">
            <a:avLst/>
          </a:prstGeom>
          <a:solidFill>
            <a:srgbClr val="E9F4F6"/>
          </a:solidFill>
          <a:ln>
            <a:solidFill>
              <a:srgbClr val="1C7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8680" y="6044184"/>
            <a:ext cx="10378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19" b="1">
                <a:solidFill>
                  <a:srgbClr val="12223D"/>
                </a:solidFill>
                <a:latin typeface="Aptos"/>
              </a:defRPr>
            </a:pPr>
            <a:r>
              <a:t>Key takeaway: the 15 descriptors contain real signal, but their effective information is highly redundant and concentrated in a small number of latent dimensions.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6750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92608"/>
            <a:ext cx="6392712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23D"/>
                </a:solidFill>
                <a:latin typeface="Aptos Display"/>
              </a:defRPr>
            </a:pPr>
            <a:r>
              <a:rPr dirty="0"/>
              <a:t>PCA — evidence for an information ceiling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59536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20">
                <a:solidFill>
                  <a:srgbClr val="5B6777"/>
                </a:solidFill>
                <a:latin typeface="Aptos"/>
              </a:defRPr>
            </a:pPr>
            <a:r>
              <a:t>The current descriptor space contains signal, but the RNA families overlap heavily.</a:t>
            </a:r>
          </a:p>
        </p:txBody>
      </p:sp>
      <p:pic>
        <p:nvPicPr>
          <p:cNvPr id="6" name="Picture 5" descr="image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29015"/>
            <a:ext cx="5989319" cy="3994328"/>
          </a:xfrm>
          <a:prstGeom prst="rect">
            <a:avLst/>
          </a:prstGeom>
        </p:spPr>
      </p:pic>
      <p:pic>
        <p:nvPicPr>
          <p:cNvPr id="7" name="Picture 6" descr="imag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881051"/>
            <a:ext cx="5166359" cy="369025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022592" y="5916168"/>
            <a:ext cx="108813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rPr dirty="0"/>
              <a:t>SCREE PLOT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58521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B6777"/>
                </a:solidFill>
              </a:defRPr>
            </a:pPr>
            <a:r>
              <a:t>PC1 + PC2 ≈ 57.6% variance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585216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B6777"/>
                </a:solidFill>
              </a:defRPr>
            </a:pPr>
            <a:r>
              <a:t>PC1–PC4 ≈ 86.3% variance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3755"/>
                </a:solidFill>
              </a:defRPr>
            </a:pPr>
            <a:r>
              <a:t>Class Imbalance: Experiment &amp; Key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5819478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6976"/>
                </a:solidFill>
              </a:defRPr>
            </a:pPr>
            <a:r>
              <a:rPr lang="en-US" dirty="0" err="1"/>
              <a:t>Upsampling</a:t>
            </a:r>
            <a:r>
              <a:rPr lang="en-US" dirty="0"/>
              <a:t> improves some class-recognition rates, but introduces a clear trade-off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89920" cy="39857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  <a:defRPr sz="1700">
                <a:solidFill>
                  <a:srgbClr val="2D3741"/>
                </a:solidFill>
              </a:defRPr>
            </a:pPr>
            <a:r>
              <a:rPr sz="1400" dirty="0"/>
              <a:t>Method: </a:t>
            </a:r>
            <a:r>
              <a:rPr sz="1400" dirty="0" err="1"/>
              <a:t>upsampling</a:t>
            </a:r>
            <a:r>
              <a:rPr sz="1400" dirty="0"/>
              <a:t> was applied inside cross-validation training folds; the held-out test set retained its original class distribution.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  <a:defRPr sz="1900">
                <a:solidFill>
                  <a:srgbClr val="2D3741"/>
                </a:solidFill>
              </a:defRPr>
            </a:pPr>
            <a:r>
              <a:rPr sz="1400" dirty="0"/>
              <a:t>Models: Random Forest, Gradient Boosting (GBM), C5.0, KNN and Multinomial Logistic Regression.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  <a:defRPr sz="1700">
                <a:solidFill>
                  <a:srgbClr val="2D3741"/>
                </a:solidFill>
              </a:defRPr>
            </a:pPr>
            <a:r>
              <a:rPr sz="1400" dirty="0"/>
              <a:t>Cross-validation accuracy changed little for most models; it decreased slightly for GBM and was nearly unchanged for C5.0.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  <a:defRPr sz="1900">
                <a:solidFill>
                  <a:srgbClr val="2D3741"/>
                </a:solidFill>
              </a:defRPr>
            </a:pPr>
            <a:r>
              <a:rPr sz="1400" dirty="0"/>
              <a:t>C5.0 test accuracy: 62.8% without </a:t>
            </a:r>
            <a:r>
              <a:rPr sz="1400" dirty="0" err="1"/>
              <a:t>upsampling</a:t>
            </a:r>
            <a:r>
              <a:rPr sz="1400" dirty="0"/>
              <a:t> → 52.4% with </a:t>
            </a:r>
            <a:r>
              <a:rPr sz="1400" dirty="0" err="1"/>
              <a:t>upsampling</a:t>
            </a:r>
            <a:r>
              <a:rPr sz="1400" dirty="0"/>
              <a:t>.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  <a:defRPr sz="1900">
                <a:solidFill>
                  <a:srgbClr val="2D3741"/>
                </a:solidFill>
              </a:defRPr>
            </a:pPr>
            <a:r>
              <a:rPr sz="1400" dirty="0"/>
              <a:t>C5.0 macro recall: 59.7% without </a:t>
            </a:r>
            <a:r>
              <a:rPr sz="1400" dirty="0" err="1"/>
              <a:t>upsampling</a:t>
            </a:r>
            <a:r>
              <a:rPr sz="1400" dirty="0"/>
              <a:t> → 69.7% with </a:t>
            </a:r>
            <a:r>
              <a:rPr sz="1400" dirty="0" err="1"/>
              <a:t>upsampling</a:t>
            </a:r>
            <a:r>
              <a:rPr sz="1400" dirty="0"/>
              <a:t>.</a:t>
            </a:r>
            <a:endParaRPr lang="en-IN" sz="1400" dirty="0"/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  <a:defRPr sz="1900">
                <a:solidFill>
                  <a:srgbClr val="2D3741"/>
                </a:solidFill>
              </a:defRPr>
            </a:pPr>
            <a:r>
              <a:rPr lang="en-US" sz="1400" dirty="0"/>
              <a:t>Improved C5.0 recall: HCV.IRES 0% → 80%; HIV.TAR 58.3% → 83.3%; mRNA 40% → 80%.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  <a:defRPr sz="1900">
                <a:solidFill>
                  <a:srgbClr val="2D3741"/>
                </a:solidFill>
              </a:defRPr>
            </a:pPr>
            <a:r>
              <a:rPr lang="en-US" sz="1400" dirty="0"/>
              <a:t>Remaining weakness: “Other” recall fell to 8.8%; tRNA recall remained 0%.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  <a:defRPr sz="1700">
                <a:solidFill>
                  <a:srgbClr val="2D3741"/>
                </a:solidFill>
              </a:defRPr>
            </a:pPr>
            <a:r>
              <a:rPr lang="en-US" sz="1400" dirty="0"/>
              <a:t>Conclusion: </a:t>
            </a:r>
            <a:r>
              <a:rPr lang="en-US" sz="1400" dirty="0" err="1"/>
              <a:t>Upsampling</a:t>
            </a:r>
            <a:r>
              <a:rPr lang="en-US" sz="1400" dirty="0"/>
              <a:t> is not universally better</a:t>
            </a:r>
            <a:r>
              <a:rPr lang="en-US" sz="1600" dirty="0"/>
              <a:t>.</a:t>
            </a:r>
          </a:p>
          <a:p>
            <a:pPr marL="342900" indent="-342900">
              <a:spcAft>
                <a:spcPts val="1800"/>
              </a:spcAft>
              <a:buFont typeface="Arial" panose="020B0604020202020204" pitchFamily="34" charset="0"/>
              <a:buChar char="•"/>
              <a:defRPr sz="1900">
                <a:solidFill>
                  <a:srgbClr val="2D3741"/>
                </a:solidFill>
              </a:defRPr>
            </a:pPr>
            <a:endParaRPr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BB1325E-94A2-F8D0-8409-DA1D144B2CB0}"/>
              </a:ext>
            </a:extLst>
          </p:cNvPr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07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D9A9E5A-7DB8-9D7D-1A52-5618C866E2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9096" y="4044903"/>
            <a:ext cx="5112904" cy="281309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07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92608"/>
            <a:ext cx="6547883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23D"/>
                </a:solidFill>
                <a:latin typeface="Aptos Display"/>
              </a:defRPr>
            </a:pPr>
            <a:r>
              <a:rPr dirty="0"/>
              <a:t>Implementation of 10–15 ML/DL algorithms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59536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20">
                <a:solidFill>
                  <a:srgbClr val="5B6777"/>
                </a:solidFill>
                <a:latin typeface="Aptos"/>
              </a:defRPr>
            </a:pPr>
            <a:r>
              <a:t>13 successful classifiers were benchmarked; XGBoost was attempted separately.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0625983"/>
              </p:ext>
            </p:extLst>
          </p:nvPr>
        </p:nvGraphicFramePr>
        <p:xfrm>
          <a:off x="1709928" y="1396233"/>
          <a:ext cx="859536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1222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Algorithm</a:t>
                      </a:r>
                    </a:p>
                  </a:txBody>
                  <a:tcPr>
                    <a:solidFill>
                      <a:srgbClr val="1222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CV</a:t>
                      </a:r>
                    </a:p>
                  </a:txBody>
                  <a:tcPr>
                    <a:solidFill>
                      <a:srgbClr val="1222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Test</a:t>
                      </a:r>
                    </a:p>
                  </a:txBody>
                  <a:tcPr>
                    <a:solidFill>
                      <a:srgbClr val="1222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Tier</a:t>
                      </a:r>
                    </a:p>
                  </a:txBody>
                  <a:tcPr>
                    <a:solidFill>
                      <a:srgbClr val="1222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D2229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BF5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D2229"/>
                          </a:solidFill>
                          <a:latin typeface="Aptos"/>
                        </a:defRPr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rgbClr val="EBF5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D2229"/>
                          </a:solidFill>
                          <a:latin typeface="Aptos"/>
                        </a:defRPr>
                      </a:pPr>
                      <a:r>
                        <a:t>57.2%</a:t>
                      </a:r>
                    </a:p>
                  </a:txBody>
                  <a:tcPr>
                    <a:solidFill>
                      <a:srgbClr val="EBF5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D2229"/>
                          </a:solidFill>
                          <a:latin typeface="Aptos"/>
                        </a:defRPr>
                      </a:pPr>
                      <a:r>
                        <a:t>61.4%</a:t>
                      </a:r>
                    </a:p>
                  </a:txBody>
                  <a:tcPr>
                    <a:solidFill>
                      <a:srgbClr val="EBF5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D2229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B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D2229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BF5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D2229"/>
                          </a:solidFill>
                          <a:latin typeface="Aptos"/>
                        </a:defRPr>
                      </a:pPr>
                      <a:r>
                        <a:t>Gradient Boosting (GBM)</a:t>
                      </a:r>
                    </a:p>
                  </a:txBody>
                  <a:tcPr>
                    <a:solidFill>
                      <a:srgbClr val="EBF5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D2229"/>
                          </a:solidFill>
                          <a:latin typeface="Aptos"/>
                        </a:defRPr>
                      </a:pPr>
                      <a:r>
                        <a:t>57.0%</a:t>
                      </a:r>
                    </a:p>
                  </a:txBody>
                  <a:tcPr>
                    <a:solidFill>
                      <a:srgbClr val="EBF5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D2229"/>
                          </a:solidFill>
                          <a:latin typeface="Aptos"/>
                        </a:defRPr>
                      </a:pPr>
                      <a:r>
                        <a:t>62.1%</a:t>
                      </a:r>
                    </a:p>
                  </a:txBody>
                  <a:tcPr>
                    <a:solidFill>
                      <a:srgbClr val="EBF5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D2229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B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D2229"/>
                          </a:solidFill>
                          <a:latin typeface="Aptos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BF5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D2229"/>
                          </a:solidFill>
                          <a:latin typeface="Aptos"/>
                        </a:defRPr>
                      </a:pPr>
                      <a:r>
                        <a:t>Bagged CART</a:t>
                      </a:r>
                    </a:p>
                  </a:txBody>
                  <a:tcPr>
                    <a:solidFill>
                      <a:srgbClr val="EBF5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D2229"/>
                          </a:solidFill>
                          <a:latin typeface="Aptos"/>
                        </a:defRPr>
                      </a:pPr>
                      <a:r>
                        <a:t>56.0%</a:t>
                      </a:r>
                    </a:p>
                  </a:txBody>
                  <a:tcPr>
                    <a:solidFill>
                      <a:srgbClr val="EBF5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D2229"/>
                          </a:solidFill>
                          <a:latin typeface="Aptos"/>
                        </a:defRPr>
                      </a:pPr>
                      <a:r>
                        <a:t>59.3%</a:t>
                      </a:r>
                    </a:p>
                  </a:txBody>
                  <a:tcPr>
                    <a:solidFill>
                      <a:srgbClr val="EBF5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D2229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B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D2229"/>
                          </a:solidFill>
                          <a:latin typeface="Aptos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BF5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D2229"/>
                          </a:solidFill>
                          <a:latin typeface="Aptos"/>
                        </a:defRPr>
                      </a:pPr>
                      <a:r>
                        <a:t>Neural Network (nnet)</a:t>
                      </a:r>
                    </a:p>
                  </a:txBody>
                  <a:tcPr>
                    <a:solidFill>
                      <a:srgbClr val="EBF5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D2229"/>
                          </a:solidFill>
                          <a:latin typeface="Aptos"/>
                        </a:defRPr>
                      </a:pPr>
                      <a:r>
                        <a:t>55.3%</a:t>
                      </a:r>
                    </a:p>
                  </a:txBody>
                  <a:tcPr>
                    <a:solidFill>
                      <a:srgbClr val="EBF5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D2229"/>
                          </a:solidFill>
                          <a:latin typeface="Aptos"/>
                        </a:defRPr>
                      </a:pPr>
                      <a:r>
                        <a:t>59.3%</a:t>
                      </a:r>
                    </a:p>
                  </a:txBody>
                  <a:tcPr>
                    <a:solidFill>
                      <a:srgbClr val="EBF5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D2229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B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D2229"/>
                          </a:solidFill>
                          <a:latin typeface="Aptos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EBF5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D2229"/>
                          </a:solidFill>
                          <a:latin typeface="Aptos"/>
                        </a:defRPr>
                      </a:pPr>
                      <a:r>
                        <a:t>Decision Tree (C5.0)</a:t>
                      </a:r>
                    </a:p>
                  </a:txBody>
                  <a:tcPr>
                    <a:solidFill>
                      <a:srgbClr val="EBF5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D2229"/>
                          </a:solidFill>
                          <a:latin typeface="Aptos"/>
                        </a:defRPr>
                      </a:pPr>
                      <a:r>
                        <a:t>54.5%</a:t>
                      </a:r>
                    </a:p>
                  </a:txBody>
                  <a:tcPr>
                    <a:solidFill>
                      <a:srgbClr val="EBF5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D2229"/>
                          </a:solidFill>
                          <a:latin typeface="Aptos"/>
                        </a:defRPr>
                      </a:pPr>
                      <a:r>
                        <a:t>62.8%</a:t>
                      </a:r>
                    </a:p>
                  </a:txBody>
                  <a:tcPr>
                    <a:solidFill>
                      <a:srgbClr val="EBF5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D2229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B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D2229"/>
                          </a:solidFill>
                          <a:latin typeface="Aptos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EA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D2229"/>
                          </a:solidFill>
                          <a:latin typeface="Aptos"/>
                        </a:defRPr>
                      </a:pPr>
                      <a:r>
                        <a:rPr dirty="0"/>
                        <a:t>K-Nearest Neighbors</a:t>
                      </a:r>
                    </a:p>
                  </a:txBody>
                  <a:tcPr>
                    <a:solidFill>
                      <a:srgbClr val="EA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D2229"/>
                          </a:solidFill>
                          <a:latin typeface="Aptos"/>
                        </a:defRPr>
                      </a:pPr>
                      <a:r>
                        <a:t>53.5%</a:t>
                      </a:r>
                    </a:p>
                  </a:txBody>
                  <a:tcPr>
                    <a:solidFill>
                      <a:srgbClr val="EA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D2229"/>
                          </a:solidFill>
                          <a:latin typeface="Aptos"/>
                        </a:defRPr>
                      </a:pPr>
                      <a:r>
                        <a:rPr dirty="0"/>
                        <a:t>57.9%</a:t>
                      </a:r>
                    </a:p>
                  </a:txBody>
                  <a:tcPr>
                    <a:solidFill>
                      <a:srgbClr val="EA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D2229"/>
                          </a:solidFill>
                          <a:latin typeface="Aptos"/>
                        </a:defRPr>
                      </a:pPr>
                      <a:r>
                        <a:rPr lang="en-IN" dirty="0"/>
                        <a:t>2</a:t>
                      </a:r>
                      <a:endParaRPr dirty="0"/>
                    </a:p>
                  </a:txBody>
                  <a:tcPr>
                    <a:solidFill>
                      <a:srgbClr val="EA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D2229"/>
                          </a:solidFill>
                          <a:latin typeface="Aptos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D2229"/>
                          </a:solidFill>
                          <a:latin typeface="Aptos"/>
                        </a:defRPr>
                      </a:pPr>
                      <a:r>
                        <a:t>Decision Tree (CART)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D2229"/>
                          </a:solidFill>
                          <a:latin typeface="Aptos"/>
                        </a:defRPr>
                      </a:pPr>
                      <a:r>
                        <a:t>49.7%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D2229"/>
                          </a:solidFill>
                          <a:latin typeface="Aptos"/>
                        </a:defRPr>
                      </a:pPr>
                      <a:r>
                        <a:t>46.9%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D2229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D2229"/>
                          </a:solidFill>
                          <a:latin typeface="Aptos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D2229"/>
                          </a:solidFill>
                          <a:latin typeface="Aptos"/>
                        </a:defRPr>
                      </a:pPr>
                      <a:r>
                        <a:t>Regularized Multinomial (glmnet)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D2229"/>
                          </a:solidFill>
                          <a:latin typeface="Aptos"/>
                        </a:defRPr>
                      </a:pPr>
                      <a:r>
                        <a:t>49.0%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D2229"/>
                          </a:solidFill>
                          <a:latin typeface="Aptos"/>
                        </a:defRPr>
                      </a:pPr>
                      <a:r>
                        <a:t>46.9%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D2229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D2229"/>
                          </a:solidFill>
                          <a:latin typeface="Aptos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D2229"/>
                          </a:solidFill>
                          <a:latin typeface="Aptos"/>
                        </a:defRPr>
                      </a:pPr>
                      <a:r>
                        <a:t>Multinomial Logistic 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D2229"/>
                          </a:solidFill>
                          <a:latin typeface="Aptos"/>
                        </a:defRPr>
                      </a:pPr>
                      <a:r>
                        <a:t>48.9%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D2229"/>
                          </a:solidFill>
                          <a:latin typeface="Aptos"/>
                        </a:defRPr>
                      </a:pPr>
                      <a:r>
                        <a:t>51.0%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D2229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D2229"/>
                          </a:solidFill>
                          <a:latin typeface="Aptos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D2229"/>
                          </a:solidFill>
                          <a:latin typeface="Aptos"/>
                        </a:defRPr>
                      </a:pPr>
                      <a:r>
                        <a:t>Linear Discriminant Analysis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D2229"/>
                          </a:solidFill>
                          <a:latin typeface="Aptos"/>
                        </a:defRPr>
                      </a:pPr>
                      <a:r>
                        <a:t>46.2%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D2229"/>
                          </a:solidFill>
                          <a:latin typeface="Aptos"/>
                        </a:defRPr>
                      </a:pPr>
                      <a:r>
                        <a:t>51.0%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D2229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D2229"/>
                          </a:solidFill>
                          <a:latin typeface="Aptos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D2229"/>
                          </a:solidFill>
                          <a:latin typeface="Aptos"/>
                        </a:defRPr>
                      </a:pPr>
                      <a:r>
                        <a:t>Naive Bayes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D2229"/>
                          </a:solidFill>
                          <a:latin typeface="Aptos"/>
                        </a:defRPr>
                      </a:pPr>
                      <a:r>
                        <a:t>41.7%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D2229"/>
                          </a:solidFill>
                          <a:latin typeface="Aptos"/>
                        </a:defRPr>
                      </a:pPr>
                      <a:r>
                        <a:t>42.8%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D2229"/>
                          </a:solidFill>
                          <a:latin typeface="Aptos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D2229"/>
                          </a:solidFill>
                          <a:latin typeface="Aptos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BE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D2229"/>
                          </a:solidFill>
                          <a:latin typeface="Aptos"/>
                        </a:defRPr>
                      </a:pPr>
                      <a:r>
                        <a:t>SVM (Radial)</a:t>
                      </a:r>
                    </a:p>
                  </a:txBody>
                  <a:tcPr>
                    <a:solidFill>
                      <a:srgbClr val="FBE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D2229"/>
                          </a:solidFill>
                          <a:latin typeface="Aptos"/>
                        </a:defRPr>
                      </a:pPr>
                      <a:r>
                        <a:t>38.7%</a:t>
                      </a:r>
                    </a:p>
                  </a:txBody>
                  <a:tcPr>
                    <a:solidFill>
                      <a:srgbClr val="FBE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D2229"/>
                          </a:solidFill>
                          <a:latin typeface="Aptos"/>
                        </a:defRPr>
                      </a:pPr>
                      <a:r>
                        <a:t>39.3%</a:t>
                      </a:r>
                    </a:p>
                  </a:txBody>
                  <a:tcPr>
                    <a:solidFill>
                      <a:srgbClr val="FBE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D2229"/>
                          </a:solidFill>
                          <a:latin typeface="Aptos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D2229"/>
                          </a:solidFill>
                          <a:latin typeface="Aptos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BE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D2229"/>
                          </a:solidFill>
                          <a:latin typeface="Aptos"/>
                        </a:defRPr>
                      </a:pPr>
                      <a:r>
                        <a:t>SVM (Linear)</a:t>
                      </a:r>
                    </a:p>
                  </a:txBody>
                  <a:tcPr>
                    <a:solidFill>
                      <a:srgbClr val="FBE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D2229"/>
                          </a:solidFill>
                          <a:latin typeface="Aptos"/>
                        </a:defRPr>
                      </a:pPr>
                      <a:r>
                        <a:t>36.1%</a:t>
                      </a:r>
                    </a:p>
                  </a:txBody>
                  <a:tcPr>
                    <a:solidFill>
                      <a:srgbClr val="FBE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D2229"/>
                          </a:solidFill>
                          <a:latin typeface="Aptos"/>
                        </a:defRPr>
                      </a:pPr>
                      <a:r>
                        <a:t>37.2%</a:t>
                      </a:r>
                    </a:p>
                  </a:txBody>
                  <a:tcPr>
                    <a:solidFill>
                      <a:srgbClr val="FBE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D2229"/>
                          </a:solidFill>
                          <a:latin typeface="Aptos"/>
                        </a:defRPr>
                      </a:pPr>
                      <a:r>
                        <a:rPr dirty="0"/>
                        <a:t>3</a:t>
                      </a:r>
                    </a:p>
                  </a:txBody>
                  <a:tcPr>
                    <a:solidFill>
                      <a:srgbClr val="F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B6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92608"/>
            <a:ext cx="7909794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23D"/>
                </a:solidFill>
                <a:latin typeface="Aptos Display"/>
              </a:defRPr>
            </a:pPr>
            <a:r>
              <a:rPr dirty="0"/>
              <a:t>Cross-validation — primary model-selection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59536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20">
                <a:solidFill>
                  <a:srgbClr val="5B6777"/>
                </a:solidFill>
                <a:latin typeface="Aptos"/>
              </a:defRPr>
            </a:pPr>
            <a:r>
              <a:t>Repeated CV is the more reliable basis for ranking.</a:t>
            </a:r>
          </a:p>
        </p:txBody>
      </p:sp>
      <p:pic>
        <p:nvPicPr>
          <p:cNvPr id="6" name="Picture 5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83055"/>
            <a:ext cx="6858000" cy="428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35240" y="1995576"/>
            <a:ext cx="4265608" cy="2224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280">
                <a:solidFill>
                  <a:srgbClr val="1D2229"/>
                </a:solidFill>
                <a:latin typeface="Aptos"/>
              </a:defRPr>
            </a:pPr>
            <a:r>
              <a:rPr dirty="0"/>
              <a:t>Random Forest leads CV at 57.2%; GBM follows at 57.0%.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280">
                <a:solidFill>
                  <a:srgbClr val="1D2229"/>
                </a:solidFill>
                <a:latin typeface="Aptos"/>
              </a:defRPr>
            </a:pPr>
            <a:r>
              <a:rPr dirty="0"/>
              <a:t>Bagged CART, Neural Network, C5.0 and KNN also belong to Tier 1.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280">
                <a:solidFill>
                  <a:srgbClr val="1D2229"/>
                </a:solidFill>
                <a:latin typeface="Aptos"/>
              </a:defRPr>
            </a:pPr>
            <a:r>
              <a:rPr dirty="0"/>
              <a:t>No Tier 1 pair is statistically distinguishable after adjustment.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280">
                <a:solidFill>
                  <a:srgbClr val="1D2229"/>
                </a:solidFill>
                <a:latin typeface="Aptos"/>
              </a:defRPr>
            </a:pPr>
            <a:r>
              <a:rPr dirty="0"/>
              <a:t>GBM is the most stable top model (IQR ≈ 1.9 points).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280">
                <a:solidFill>
                  <a:srgbClr val="1D2229"/>
                </a:solidFill>
                <a:latin typeface="Aptos"/>
              </a:defRPr>
            </a:pPr>
            <a:r>
              <a:rPr dirty="0"/>
              <a:t>Fold-to-fold swings of roughly 9–15 points exceed many small rank gaps.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DB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92608"/>
            <a:ext cx="6998134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23D"/>
                </a:solidFill>
                <a:latin typeface="Aptos Display"/>
              </a:defRPr>
            </a:pPr>
            <a:r>
              <a:rPr dirty="0"/>
              <a:t>Test-set performance &amp; comparative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59536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20">
                <a:solidFill>
                  <a:srgbClr val="5B6777"/>
                </a:solidFill>
                <a:latin typeface="Aptos"/>
              </a:defRPr>
            </a:pPr>
            <a:r>
              <a:t>C5.0 leads the held-out test set, but the gap is small in molecule count.</a:t>
            </a:r>
          </a:p>
        </p:txBody>
      </p:sp>
      <p:pic>
        <p:nvPicPr>
          <p:cNvPr id="6" name="Picture 5" descr="imag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217" y="1234440"/>
            <a:ext cx="5695405" cy="49834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635240" y="1325880"/>
            <a:ext cx="289400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18119" y="1444752"/>
            <a:ext cx="1701813" cy="8617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DB822B"/>
                </a:solidFill>
                <a:latin typeface="Aptos Display"/>
              </a:defRPr>
            </a:pPr>
            <a:r>
              <a:rPr sz="2800" dirty="0"/>
              <a:t>62.8%</a:t>
            </a:r>
          </a:p>
          <a:p>
            <a:pPr>
              <a:defRPr sz="1050" b="1">
                <a:solidFill>
                  <a:srgbClr val="12223D"/>
                </a:solidFill>
                <a:latin typeface="Aptos"/>
              </a:defRPr>
            </a:pPr>
            <a:r>
              <a:rPr sz="1200" dirty="0"/>
              <a:t>Highest test accuracy</a:t>
            </a:r>
          </a:p>
          <a:p>
            <a:pPr>
              <a:defRPr sz="869">
                <a:solidFill>
                  <a:srgbClr val="5B6777"/>
                </a:solidFill>
                <a:latin typeface="Aptos"/>
              </a:defRPr>
            </a:pPr>
            <a:r>
              <a:rPr sz="1000" dirty="0"/>
              <a:t>C5.0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2606040"/>
            <a:ext cx="289400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18119" y="2724912"/>
            <a:ext cx="1162498" cy="8617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C7E8C"/>
                </a:solidFill>
                <a:latin typeface="Aptos Display"/>
              </a:defRPr>
            </a:pPr>
            <a:r>
              <a:rPr sz="2800"/>
              <a:t>62.1%</a:t>
            </a:r>
          </a:p>
          <a:p>
            <a:pPr>
              <a:defRPr sz="1050" b="1">
                <a:solidFill>
                  <a:srgbClr val="12223D"/>
                </a:solidFill>
                <a:latin typeface="Aptos"/>
              </a:defRPr>
            </a:pPr>
            <a:r>
              <a:rPr sz="1200"/>
              <a:t>GBM</a:t>
            </a:r>
          </a:p>
          <a:p>
            <a:pPr>
              <a:defRPr sz="869">
                <a:solidFill>
                  <a:srgbClr val="5B6777"/>
                </a:solidFill>
                <a:latin typeface="Aptos"/>
              </a:defRPr>
            </a:pPr>
            <a:r>
              <a:rPr sz="1000"/>
              <a:t>≈90 correct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3886200"/>
            <a:ext cx="289400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18119" y="4005072"/>
            <a:ext cx="1247714" cy="8617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B60A4"/>
                </a:solidFill>
                <a:latin typeface="Aptos Display"/>
              </a:defRPr>
            </a:pPr>
            <a:r>
              <a:rPr sz="2800"/>
              <a:t>61.4%</a:t>
            </a:r>
          </a:p>
          <a:p>
            <a:pPr>
              <a:defRPr sz="1050" b="1">
                <a:solidFill>
                  <a:srgbClr val="12223D"/>
                </a:solidFill>
                <a:latin typeface="Aptos"/>
              </a:defRPr>
            </a:pPr>
            <a:r>
              <a:rPr sz="1200"/>
              <a:t>Random Forest</a:t>
            </a:r>
          </a:p>
          <a:p>
            <a:pPr>
              <a:defRPr sz="869">
                <a:solidFill>
                  <a:srgbClr val="5B6777"/>
                </a:solidFill>
                <a:latin typeface="Aptos"/>
              </a:defRPr>
            </a:pPr>
            <a:r>
              <a:rPr sz="1000"/>
              <a:t>≈89 correct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5166360"/>
            <a:ext cx="3474720" cy="977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1050">
                <a:solidFill>
                  <a:srgbClr val="1D2229"/>
                </a:solidFill>
                <a:latin typeface="Aptos"/>
              </a:defRPr>
            </a:pPr>
            <a:r>
              <a:rPr sz="1100" b="1" dirty="0"/>
              <a:t>C5.0, GBM and RF differ by only about 1–2 test molecules.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1050">
                <a:solidFill>
                  <a:srgbClr val="1D2229"/>
                </a:solidFill>
                <a:latin typeface="Aptos"/>
              </a:defRPr>
            </a:pPr>
            <a:r>
              <a:rPr sz="1100" b="1" dirty="0"/>
              <a:t>C5.0's +8.2-point CV-to-test jump is unusually large; the deeper analysis treats this as likely sampling luck.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6750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92608"/>
            <a:ext cx="8717195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23D"/>
                </a:solidFill>
                <a:latin typeface="Aptos Display"/>
              </a:defRPr>
            </a:pPr>
            <a:r>
              <a:rPr dirty="0"/>
              <a:t>Comparative performance — Kappa, macro recall &amp; tiers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59536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20">
                <a:solidFill>
                  <a:srgbClr val="5B6777"/>
                </a:solidFill>
                <a:latin typeface="Aptos"/>
              </a:defRPr>
            </a:pPr>
            <a:r>
              <a:t>Accuracy is interpreted together with agreement and minority-class recovery.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80160"/>
            <a:ext cx="33832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399031"/>
            <a:ext cx="310896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07E5B"/>
                </a:solidFill>
                <a:latin typeface="Aptos Display"/>
              </a:defRPr>
            </a:pPr>
            <a:r>
              <a:t>6 models</a:t>
            </a:r>
          </a:p>
          <a:p>
            <a:pPr>
              <a:defRPr sz="1050" b="1">
                <a:solidFill>
                  <a:srgbClr val="12223D"/>
                </a:solidFill>
                <a:latin typeface="Aptos"/>
              </a:defRPr>
            </a:pPr>
            <a:r>
              <a:t>Tier 1</a:t>
            </a:r>
          </a:p>
          <a:p>
            <a:pPr>
              <a:defRPr sz="869">
                <a:solidFill>
                  <a:srgbClr val="5B6777"/>
                </a:solidFill>
                <a:latin typeface="Aptos"/>
              </a:defRPr>
            </a:pPr>
            <a:r>
              <a:t>RF, GBM, Bagged CART, NN, C5.0, KNN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280160"/>
            <a:ext cx="33832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1399031"/>
            <a:ext cx="310896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DB822B"/>
                </a:solidFill>
                <a:latin typeface="Aptos Display"/>
              </a:defRPr>
            </a:pPr>
            <a:r>
              <a:t>4 models</a:t>
            </a:r>
          </a:p>
          <a:p>
            <a:pPr>
              <a:defRPr sz="1050" b="1">
                <a:solidFill>
                  <a:srgbClr val="12223D"/>
                </a:solidFill>
                <a:latin typeface="Aptos"/>
              </a:defRPr>
            </a:pPr>
            <a:r>
              <a:t>Tier 2</a:t>
            </a:r>
          </a:p>
          <a:p>
            <a:pPr>
              <a:defRPr sz="869">
                <a:solidFill>
                  <a:srgbClr val="5B6777"/>
                </a:solidFill>
                <a:latin typeface="Aptos"/>
              </a:defRPr>
            </a:pPr>
            <a:r>
              <a:t>CART, glmnet, MLR, LDA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280160"/>
            <a:ext cx="33832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75319" y="1399031"/>
            <a:ext cx="310896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BC4545"/>
                </a:solidFill>
                <a:latin typeface="Aptos Display"/>
              </a:defRPr>
            </a:pPr>
            <a:r>
              <a:t>3 models</a:t>
            </a:r>
          </a:p>
          <a:p>
            <a:pPr>
              <a:defRPr sz="1050" b="1">
                <a:solidFill>
                  <a:srgbClr val="12223D"/>
                </a:solidFill>
                <a:latin typeface="Aptos"/>
              </a:defRPr>
            </a:pPr>
            <a:r>
              <a:t>Tier 3</a:t>
            </a:r>
          </a:p>
          <a:p>
            <a:pPr>
              <a:defRPr sz="869">
                <a:solidFill>
                  <a:srgbClr val="5B6777"/>
                </a:solidFill>
                <a:latin typeface="Aptos"/>
              </a:defRPr>
            </a:pPr>
            <a:r>
              <a:t>Naive Bayes, SVM-R, SVM-L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063240"/>
            <a:ext cx="10332720" cy="1490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350">
                <a:solidFill>
                  <a:srgbClr val="1D2229"/>
                </a:solidFill>
                <a:latin typeface="Aptos"/>
              </a:defRPr>
            </a:pPr>
            <a:r>
              <a:rPr dirty="0"/>
              <a:t>RF: 61.4% test, Kappa 0.516, macro recall 0.514.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350">
                <a:solidFill>
                  <a:srgbClr val="1D2229"/>
                </a:solidFill>
                <a:latin typeface="Aptos"/>
              </a:defRPr>
            </a:pPr>
            <a:r>
              <a:rPr dirty="0"/>
              <a:t>GBM: 62.1% test, Kappa 0.516, macro recall 0.572.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350">
                <a:solidFill>
                  <a:srgbClr val="1D2229"/>
                </a:solidFill>
                <a:latin typeface="Aptos"/>
              </a:defRPr>
            </a:pPr>
            <a:r>
              <a:rPr dirty="0"/>
              <a:t>C5.0: 62.8% test, Kappa 0.527, macro recall 0.597.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350">
                <a:solidFill>
                  <a:srgbClr val="1D2229"/>
                </a:solidFill>
                <a:latin typeface="Aptos"/>
              </a:defRPr>
            </a:pPr>
            <a:r>
              <a:rPr dirty="0"/>
              <a:t>Naive Bayes: 42.8% accuracy but 0.551 macro recall, showing minority-recovery trade-off.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350">
                <a:solidFill>
                  <a:srgbClr val="1D2229"/>
                </a:solidFill>
                <a:latin typeface="Aptos"/>
              </a:defRPr>
            </a:pPr>
            <a:r>
              <a:rPr dirty="0"/>
              <a:t>SVMs sit close to the always-“Other” baseline at ~37–39% test accuracy.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C7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92608"/>
            <a:ext cx="9502410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23D"/>
                </a:solidFill>
                <a:latin typeface="Aptos Display"/>
              </a:defRPr>
            </a:pPr>
            <a:r>
              <a:rPr dirty="0"/>
              <a:t>Comparative visualization — Random Forest confusion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59536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20">
                <a:solidFill>
                  <a:srgbClr val="5B6777"/>
                </a:solidFill>
                <a:latin typeface="Aptos"/>
              </a:defRPr>
            </a:pPr>
            <a:r>
              <a:t>One representative confusion matrix keeps the presentation readable while demonstrating class-level behaviour.</a:t>
            </a:r>
          </a:p>
        </p:txBody>
      </p:sp>
      <p:pic>
        <p:nvPicPr>
          <p:cNvPr id="6" name="Picture 5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777" y="1234440"/>
            <a:ext cx="5695405" cy="49834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52360" y="1417320"/>
            <a:ext cx="3886200" cy="22518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300">
                <a:solidFill>
                  <a:srgbClr val="1D2229"/>
                </a:solidFill>
                <a:latin typeface="Aptos"/>
              </a:defRPr>
            </a:pPr>
            <a:r>
              <a:rPr dirty="0"/>
              <a:t>Best HIV TAR recovery among the four detailed models: 9 correct.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300">
                <a:solidFill>
                  <a:srgbClr val="1D2229"/>
                </a:solidFill>
                <a:latin typeface="Aptos"/>
              </a:defRPr>
            </a:pPr>
            <a:r>
              <a:rPr dirty="0"/>
              <a:t>Best mRNA recovery among the four: 7 correct.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300">
                <a:solidFill>
                  <a:srgbClr val="1D2229"/>
                </a:solidFill>
                <a:latin typeface="Aptos"/>
              </a:defRPr>
            </a:pPr>
            <a:r>
              <a:rPr dirty="0"/>
              <a:t>Matches C5.0 on Riboswitch (10) and G-Quadruplex (12).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300">
                <a:solidFill>
                  <a:srgbClr val="1D2229"/>
                </a:solidFill>
                <a:latin typeface="Aptos"/>
              </a:defRPr>
            </a:pPr>
            <a:r>
              <a:rPr dirty="0"/>
              <a:t>Viral RNA is missed completely; HCV IRES and tRNA remain very difficult.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300">
                <a:solidFill>
                  <a:srgbClr val="1D2229"/>
                </a:solidFill>
                <a:latin typeface="Aptos"/>
              </a:defRPr>
            </a:pPr>
            <a:r>
              <a:rPr dirty="0"/>
              <a:t>The model is stronger on common classes than rare minority families.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BC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92608"/>
            <a:ext cx="7073155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23D"/>
                </a:solidFill>
                <a:latin typeface="Aptos Display"/>
              </a:defRPr>
            </a:pPr>
            <a:r>
              <a:rPr dirty="0"/>
              <a:t>Comparative visualization — precision–recall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59536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20">
                <a:solidFill>
                  <a:srgbClr val="5B6777"/>
                </a:solidFill>
                <a:latin typeface="Aptos"/>
              </a:defRPr>
            </a:pPr>
            <a:r>
              <a:t>C5.0 has useful discrimination for some families, but rare classes remain difficult.</a:t>
            </a:r>
          </a:p>
        </p:txBody>
      </p:sp>
      <p:pic>
        <p:nvPicPr>
          <p:cNvPr id="6" name="Picture 5" descr="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309" y="1234440"/>
            <a:ext cx="5814060" cy="49834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98079" y="1417320"/>
            <a:ext cx="4122990" cy="2421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280">
                <a:solidFill>
                  <a:srgbClr val="1D2229"/>
                </a:solidFill>
                <a:latin typeface="Aptos"/>
              </a:defRPr>
            </a:pPr>
            <a:r>
              <a:rPr dirty="0"/>
              <a:t>Riboswitch and Repeat RNA maintain relatively high precision over useful recall ranges.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280">
                <a:solidFill>
                  <a:srgbClr val="1D2229"/>
                </a:solidFill>
                <a:latin typeface="Aptos"/>
              </a:defRPr>
            </a:pPr>
            <a:r>
              <a:rPr dirty="0"/>
              <a:t>G-Quadruplex reaches high precision at moderate recall, then drops.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280">
                <a:solidFill>
                  <a:srgbClr val="1D2229"/>
                </a:solidFill>
                <a:latin typeface="Aptos"/>
              </a:defRPr>
            </a:pPr>
            <a:r>
              <a:rPr dirty="0"/>
              <a:t>HCV IRES, tRNA and mRNA remain near the bottom of the plot.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280">
                <a:solidFill>
                  <a:srgbClr val="1D2229"/>
                </a:solidFill>
                <a:latin typeface="Aptos"/>
              </a:defRPr>
            </a:pPr>
            <a:r>
              <a:rPr dirty="0"/>
              <a:t>Tiny-class curves become step-like because there are very few positive examples.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280">
                <a:solidFill>
                  <a:srgbClr val="1D2229"/>
                </a:solidFill>
                <a:latin typeface="Aptos"/>
              </a:defRPr>
            </a:pPr>
            <a:r>
              <a:rPr dirty="0"/>
              <a:t>This supports reporting per-class recall alongside overall accuracy.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35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B6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92608"/>
            <a:ext cx="7103483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23D"/>
                </a:solidFill>
                <a:latin typeface="Aptos Display"/>
              </a:defRPr>
            </a:pPr>
            <a:r>
              <a:rPr dirty="0"/>
              <a:t>Feature importance — what drives the models?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59536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20">
                <a:solidFill>
                  <a:srgbClr val="5B6777"/>
                </a:solidFill>
                <a:latin typeface="Aptos"/>
              </a:defRPr>
            </a:pPr>
            <a:r>
              <a:t>Feature importance complements the statistical descriptor analysis.</a:t>
            </a:r>
          </a:p>
        </p:txBody>
      </p:sp>
      <p:pic>
        <p:nvPicPr>
          <p:cNvPr id="6" name="Picture 5" descr="imag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63040"/>
            <a:ext cx="6035040" cy="452627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812280" y="1325880"/>
            <a:ext cx="42976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95160" y="1444752"/>
            <a:ext cx="2448106" cy="7262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B60A4"/>
                </a:solidFill>
                <a:latin typeface="Aptos Display"/>
              </a:defRPr>
            </a:pPr>
            <a:r>
              <a:rPr dirty="0" err="1"/>
              <a:t>FractionC</a:t>
            </a:r>
            <a:r>
              <a:rPr lang="en-IN" baseline="-25000" dirty="0" err="1"/>
              <a:t>sp</a:t>
            </a:r>
            <a:r>
              <a:rPr baseline="-25000" dirty="0"/>
              <a:t>3</a:t>
            </a:r>
          </a:p>
          <a:p>
            <a:pPr>
              <a:defRPr sz="1050" b="1">
                <a:solidFill>
                  <a:srgbClr val="12223D"/>
                </a:solidFill>
                <a:latin typeface="Aptos"/>
              </a:defRPr>
            </a:pPr>
            <a:r>
              <a:rPr dirty="0"/>
              <a:t>Top RF features</a:t>
            </a:r>
          </a:p>
          <a:p>
            <a:pPr>
              <a:defRPr sz="869">
                <a:solidFill>
                  <a:srgbClr val="5B6777"/>
                </a:solidFill>
                <a:latin typeface="Aptos"/>
              </a:defRPr>
            </a:pPr>
            <a:r>
              <a:rPr dirty="0"/>
              <a:t>then </a:t>
            </a:r>
            <a:r>
              <a:rPr dirty="0" err="1"/>
              <a:t>FlexibilityIndex</a:t>
            </a:r>
            <a:r>
              <a:rPr dirty="0"/>
              <a:t>, </a:t>
            </a:r>
            <a:r>
              <a:rPr dirty="0" err="1"/>
              <a:t>TPSA_per_MW</a:t>
            </a:r>
            <a:r>
              <a:rPr dirty="0"/>
              <a:t> and </a:t>
            </a:r>
            <a:r>
              <a:rPr dirty="0" err="1"/>
              <a:t>MolMR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6812280" y="2743200"/>
            <a:ext cx="4160520" cy="19374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280">
                <a:solidFill>
                  <a:srgbClr val="1D2229"/>
                </a:solidFill>
                <a:latin typeface="Aptos"/>
              </a:defRPr>
            </a:pPr>
            <a:r>
              <a:rPr dirty="0"/>
              <a:t>RF spreads importance across multiple descriptors.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280">
                <a:solidFill>
                  <a:srgbClr val="1D2229"/>
                </a:solidFill>
                <a:latin typeface="Aptos"/>
              </a:defRPr>
            </a:pPr>
            <a:r>
              <a:rPr dirty="0"/>
              <a:t>C5.0 is dominated by TPSA, showing that different algorithms exploit the same space differently.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280">
                <a:solidFill>
                  <a:srgbClr val="1D2229"/>
                </a:solidFill>
                <a:latin typeface="Aptos"/>
              </a:defRPr>
            </a:pPr>
            <a:r>
              <a:rPr dirty="0"/>
              <a:t>Kruskal–Wallis ranking vs model importance has Spearman ρ ≈ 0.004 — effectively no agreement.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280">
                <a:solidFill>
                  <a:srgbClr val="1D2229"/>
                </a:solidFill>
                <a:latin typeface="Aptos"/>
              </a:defRPr>
            </a:pPr>
            <a:r>
              <a:rPr dirty="0"/>
              <a:t>Feature selection should therefore consider multivariate predictive value, not only individual statistical significance.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DB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92608"/>
            <a:ext cx="5971378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23D"/>
                </a:solidFill>
                <a:latin typeface="Aptos Display"/>
              </a:defRPr>
            </a:pPr>
            <a:r>
              <a:rPr dirty="0"/>
              <a:t>Hyperparameter tuning &amp;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59536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20">
                <a:solidFill>
                  <a:srgbClr val="5B6777"/>
                </a:solidFill>
                <a:latin typeface="Aptos"/>
              </a:defRPr>
            </a:pPr>
            <a:r>
              <a:t>Tuning changes are small compared with natural cross-validation variability.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371600"/>
            <a:ext cx="31546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490472"/>
            <a:ext cx="1356462" cy="8617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B60A4"/>
                </a:solidFill>
                <a:latin typeface="Aptos Display"/>
              </a:defRPr>
            </a:pPr>
            <a:r>
              <a:rPr sz="2800" dirty="0"/>
              <a:t>57.18%</a:t>
            </a:r>
          </a:p>
          <a:p>
            <a:pPr>
              <a:defRPr sz="1050" b="1">
                <a:solidFill>
                  <a:srgbClr val="12223D"/>
                </a:solidFill>
                <a:latin typeface="Aptos"/>
              </a:defRPr>
            </a:pPr>
            <a:r>
              <a:rPr sz="1200" dirty="0"/>
              <a:t>RF tuned CV</a:t>
            </a:r>
          </a:p>
          <a:p>
            <a:pPr>
              <a:defRPr sz="869">
                <a:solidFill>
                  <a:srgbClr val="5B6777"/>
                </a:solidFill>
                <a:latin typeface="Aptos"/>
              </a:defRPr>
            </a:pPr>
            <a:r>
              <a:rPr sz="1000" dirty="0"/>
              <a:t>reported benchmark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371600"/>
            <a:ext cx="31546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34840" y="1490472"/>
            <a:ext cx="1356462" cy="8617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C7E8C"/>
                </a:solidFill>
                <a:latin typeface="Aptos Display"/>
              </a:defRPr>
            </a:pPr>
            <a:r>
              <a:rPr sz="2800"/>
              <a:t>57.02%</a:t>
            </a:r>
          </a:p>
          <a:p>
            <a:pPr>
              <a:defRPr sz="1050" b="1">
                <a:solidFill>
                  <a:srgbClr val="12223D"/>
                </a:solidFill>
                <a:latin typeface="Aptos"/>
              </a:defRPr>
            </a:pPr>
            <a:r>
              <a:rPr sz="1200"/>
              <a:t>GBM tuned CV</a:t>
            </a:r>
          </a:p>
          <a:p>
            <a:pPr>
              <a:defRPr sz="869">
                <a:solidFill>
                  <a:srgbClr val="5B6777"/>
                </a:solidFill>
                <a:latin typeface="Aptos"/>
              </a:defRPr>
            </a:pPr>
            <a:r>
              <a:rPr sz="1000"/>
              <a:t>reported benchmark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1371600"/>
            <a:ext cx="31546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09559" y="1490472"/>
            <a:ext cx="2540439" cy="8617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DB822B"/>
                </a:solidFill>
                <a:latin typeface="Aptos Display"/>
              </a:defRPr>
            </a:pPr>
            <a:r>
              <a:rPr sz="2800"/>
              <a:t>−0.2 to +0.7 pts</a:t>
            </a:r>
          </a:p>
          <a:p>
            <a:pPr>
              <a:defRPr sz="1050" b="1">
                <a:solidFill>
                  <a:srgbClr val="12223D"/>
                </a:solidFill>
                <a:latin typeface="Aptos"/>
              </a:defRPr>
            </a:pPr>
            <a:r>
              <a:rPr sz="1200"/>
              <a:t>Tuning effect</a:t>
            </a:r>
          </a:p>
          <a:p>
            <a:pPr>
              <a:defRPr sz="869">
                <a:solidFill>
                  <a:srgbClr val="5B6777"/>
                </a:solidFill>
                <a:latin typeface="Aptos"/>
              </a:defRPr>
            </a:pPr>
            <a:r>
              <a:rPr sz="1000"/>
              <a:t>small vs fold variation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154680"/>
            <a:ext cx="10241280" cy="1223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400">
                <a:solidFill>
                  <a:srgbClr val="1D2229"/>
                </a:solidFill>
                <a:latin typeface="Aptos"/>
              </a:defRPr>
            </a:pPr>
            <a:r>
              <a:rPr dirty="0"/>
              <a:t>Tuning changes are roughly 4–10× smaller than fold-to-fold standard deviation.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400">
                <a:solidFill>
                  <a:srgbClr val="1D2229"/>
                </a:solidFill>
                <a:latin typeface="Aptos"/>
              </a:defRPr>
            </a:pPr>
            <a:r>
              <a:rPr dirty="0"/>
              <a:t>Random Forest's untuned baseline was slightly higher than its tuned score.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400">
                <a:solidFill>
                  <a:srgbClr val="1D2229"/>
                </a:solidFill>
                <a:latin typeface="Aptos"/>
              </a:defRPr>
            </a:pPr>
            <a:r>
              <a:rPr dirty="0"/>
              <a:t>This suggests the current ceiling is driven more by feature information than by parameter settings.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400">
                <a:solidFill>
                  <a:srgbClr val="1D2229"/>
                </a:solidFill>
                <a:latin typeface="Aptos"/>
              </a:defRPr>
            </a:pPr>
            <a:r>
              <a:rPr dirty="0"/>
              <a:t>Next optimization should target imbalance, validation quality and richer representations.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07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743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23D"/>
                </a:solidFill>
                <a:latin typeface="Aptos Display"/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32104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20">
                <a:solidFill>
                  <a:srgbClr val="5B6777"/>
                </a:solidFill>
                <a:latin typeface="Aptos"/>
              </a:defRPr>
            </a:pPr>
            <a:r>
              <a:t>Final interpretation of the model benchmark and what it means for the project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3246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1344168"/>
            <a:ext cx="2971800" cy="9784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B60A4"/>
                </a:solidFill>
                <a:latin typeface="Aptos Display"/>
              </a:defRPr>
            </a:pPr>
            <a:r>
              <a:t>57.2%</a:t>
            </a:r>
          </a:p>
          <a:p>
            <a:pPr>
              <a:defRPr sz="1000" b="1">
                <a:solidFill>
                  <a:srgbClr val="12223D"/>
                </a:solidFill>
                <a:latin typeface="Aptos"/>
              </a:defRPr>
            </a:pPr>
            <a:r>
              <a:t>Best cross-validated model</a:t>
            </a:r>
          </a:p>
          <a:p>
            <a:pPr>
              <a:defRPr sz="850">
                <a:solidFill>
                  <a:srgbClr val="5B6777"/>
                </a:solidFill>
                <a:latin typeface="Aptos"/>
              </a:defRPr>
            </a:pPr>
            <a:r>
              <a:t>Random Forest • most reliable overall ranking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1234440"/>
            <a:ext cx="3246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43400" y="1344168"/>
            <a:ext cx="2971800" cy="9784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B822B"/>
                </a:solidFill>
                <a:latin typeface="Aptos Display"/>
              </a:defRPr>
            </a:pPr>
            <a:r>
              <a:t>62.8%</a:t>
            </a:r>
          </a:p>
          <a:p>
            <a:pPr>
              <a:defRPr sz="1000" b="1">
                <a:solidFill>
                  <a:srgbClr val="12223D"/>
                </a:solidFill>
                <a:latin typeface="Aptos"/>
              </a:defRPr>
            </a:pPr>
            <a:r>
              <a:t>Highest held-out accuracy</a:t>
            </a:r>
          </a:p>
          <a:p>
            <a:pPr>
              <a:defRPr sz="850">
                <a:solidFill>
                  <a:srgbClr val="5B6777"/>
                </a:solidFill>
                <a:latin typeface="Aptos"/>
              </a:defRPr>
            </a:pPr>
            <a:r>
              <a:t>C5.0 • 91/≈145 test molecules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1234440"/>
            <a:ext cx="36576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63840" y="1344168"/>
            <a:ext cx="3383280" cy="9784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07E5B"/>
                </a:solidFill>
                <a:latin typeface="Aptos Display"/>
              </a:defRPr>
            </a:pPr>
            <a:r>
              <a:t>6 models</a:t>
            </a:r>
          </a:p>
          <a:p>
            <a:pPr>
              <a:defRPr sz="1000" b="1">
                <a:solidFill>
                  <a:srgbClr val="12223D"/>
                </a:solidFill>
                <a:latin typeface="Aptos"/>
              </a:defRPr>
            </a:pPr>
            <a:r>
              <a:t>Statistically supported top group</a:t>
            </a:r>
          </a:p>
          <a:p>
            <a:pPr>
              <a:defRPr sz="850">
                <a:solidFill>
                  <a:srgbClr val="5B6777"/>
                </a:solidFill>
                <a:latin typeface="Aptos"/>
              </a:defRPr>
            </a:pPr>
            <a:r>
              <a:t>RF, GBM, Bagged CART, NN, C5.0 and KNN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697480"/>
            <a:ext cx="2148840" cy="347472"/>
          </a:xfrm>
          <a:prstGeom prst="roundRect">
            <a:avLst/>
          </a:prstGeom>
          <a:solidFill>
            <a:srgbClr val="307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6" name="TextBox 15"/>
          <p:cNvSpPr txBox="1"/>
          <p:nvPr/>
        </p:nvSpPr>
        <p:spPr>
          <a:xfrm>
            <a:off x="913639" y="2765856"/>
            <a:ext cx="160172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rPr sz="1000"/>
              <a:t>WHAT WE ESTABLISHED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127248"/>
            <a:ext cx="6629400" cy="28110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  <a:defRPr sz="1220">
                <a:solidFill>
                  <a:srgbClr val="1D2229"/>
                </a:solidFill>
                <a:latin typeface="Aptos"/>
              </a:defRPr>
            </a:pPr>
            <a:r>
              <a:rPr sz="1600" dirty="0"/>
              <a:t>RNA family classification is feasible from the current molecular descriptor set, but performance is moderate rather than near-perfect.</a:t>
            </a:r>
          </a:p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  <a:defRPr sz="1220">
                <a:solidFill>
                  <a:srgbClr val="1D2229"/>
                </a:solidFill>
                <a:latin typeface="Aptos"/>
              </a:defRPr>
            </a:pPr>
            <a:r>
              <a:rPr sz="1600" dirty="0"/>
              <a:t>Random Forest and GBM are the most consistent choices across cross-validation and the held-out test set.</a:t>
            </a:r>
          </a:p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  <a:defRPr sz="1220">
                <a:solidFill>
                  <a:srgbClr val="1D2229"/>
                </a:solidFill>
                <a:latin typeface="Aptos"/>
              </a:defRPr>
            </a:pPr>
            <a:r>
              <a:rPr sz="1600" dirty="0"/>
              <a:t>C5.0 obtains the highest test accuracy, but its 54.5% CV score and +8.2-point CV-to-test jump make the lead less convincing.</a:t>
            </a:r>
          </a:p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  <a:defRPr sz="1220">
                <a:solidFill>
                  <a:srgbClr val="1D2229"/>
                </a:solidFill>
                <a:latin typeface="Aptos"/>
              </a:defRPr>
            </a:pPr>
            <a:r>
              <a:rPr sz="1600" dirty="0"/>
              <a:t>Pairwise CV testing places six models in Tier 1; no Tier-1 pair is statistically distinguishable after adjustment.</a:t>
            </a:r>
          </a:p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  <a:defRPr sz="1220">
                <a:solidFill>
                  <a:srgbClr val="1D2229"/>
                </a:solidFill>
                <a:latin typeface="Aptos"/>
              </a:defRPr>
            </a:pPr>
            <a:r>
              <a:rPr sz="1600" dirty="0"/>
              <a:t>Feature-space analysis shows substantial family overlap and only about four effective dimensions, suggesting a representation ceiling.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2697480"/>
            <a:ext cx="1508760" cy="347472"/>
          </a:xfrm>
          <a:prstGeom prst="roundRect">
            <a:avLst/>
          </a:prstGeom>
          <a:solidFill>
            <a:srgbClr val="BC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9" name="TextBox 18"/>
          <p:cNvSpPr txBox="1"/>
          <p:nvPr/>
        </p:nvSpPr>
        <p:spPr>
          <a:xfrm>
            <a:off x="7917375" y="2765856"/>
            <a:ext cx="94448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rPr sz="1000"/>
              <a:t>LIMITATIONS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26678" y="3127248"/>
            <a:ext cx="3982721" cy="27469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500"/>
              </a:spcAft>
              <a:buFont typeface="Arial" panose="020B0604020202020204" pitchFamily="34" charset="0"/>
              <a:buChar char="•"/>
              <a:defRPr sz="1150">
                <a:solidFill>
                  <a:srgbClr val="1D2229"/>
                </a:solidFill>
                <a:latin typeface="Aptos"/>
              </a:defRPr>
            </a:pPr>
            <a:r>
              <a:rPr sz="1600" dirty="0"/>
              <a:t>Class imbalance causes minority families to be absorbed into “Other.”</a:t>
            </a:r>
          </a:p>
          <a:p>
            <a:pPr marL="171450" indent="-171450">
              <a:spcAft>
                <a:spcPts val="500"/>
              </a:spcAft>
              <a:buFont typeface="Arial" panose="020B0604020202020204" pitchFamily="34" charset="0"/>
              <a:buChar char="•"/>
              <a:defRPr sz="1150">
                <a:solidFill>
                  <a:srgbClr val="1D2229"/>
                </a:solidFill>
                <a:latin typeface="Aptos"/>
              </a:defRPr>
            </a:pPr>
            <a:r>
              <a:rPr sz="1600" dirty="0"/>
              <a:t>Very small classes make some per-class AUC estimates unstable.</a:t>
            </a:r>
          </a:p>
          <a:p>
            <a:pPr marL="171450" indent="-171450">
              <a:spcAft>
                <a:spcPts val="500"/>
              </a:spcAft>
              <a:buFont typeface="Arial" panose="020B0604020202020204" pitchFamily="34" charset="0"/>
              <a:buChar char="•"/>
              <a:defRPr sz="1150">
                <a:solidFill>
                  <a:srgbClr val="1D2229"/>
                </a:solidFill>
                <a:latin typeface="Aptos"/>
              </a:defRPr>
            </a:pPr>
            <a:r>
              <a:rPr sz="1600" dirty="0"/>
              <a:t>The supplied macro-F1 output is internally inconsistent and should not be used for ranking until the metric calculation is fixed.</a:t>
            </a:r>
          </a:p>
          <a:p>
            <a:pPr marL="171450" indent="-171450">
              <a:spcAft>
                <a:spcPts val="500"/>
              </a:spcAft>
              <a:buFont typeface="Arial" panose="020B0604020202020204" pitchFamily="34" charset="0"/>
              <a:buChar char="•"/>
              <a:defRPr sz="1150">
                <a:solidFill>
                  <a:srgbClr val="1D2229"/>
                </a:solidFill>
                <a:latin typeface="Aptos"/>
              </a:defRPr>
            </a:pPr>
            <a:r>
              <a:rPr sz="1600" dirty="0" err="1"/>
              <a:t>XGBoost</a:t>
            </a:r>
            <a:r>
              <a:rPr sz="1600" dirty="0"/>
              <a:t> failed during training and therefore cannot yet be fairly compared.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7610" y="5600496"/>
            <a:ext cx="1568058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rPr dirty="0"/>
              <a:t>RECOMMENDE NEXT STAGE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438</TotalTime>
  <Words>1477</Words>
  <Application>Microsoft Office PowerPoint</Application>
  <PresentationFormat>Widescreen</PresentationFormat>
  <Paragraphs>227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Priyanka J</cp:lastModifiedBy>
  <cp:revision>9</cp:revision>
  <dcterms:created xsi:type="dcterms:W3CDTF">2013-01-27T09:14:16Z</dcterms:created>
  <dcterms:modified xsi:type="dcterms:W3CDTF">2026-10-12T18:11:53Z</dcterms:modified>
  <cp:category/>
</cp:coreProperties>
</file>