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67" r:id="rId4"/>
    <p:sldId id="273" r:id="rId5"/>
    <p:sldId id="274" r:id="rId6"/>
    <p:sldId id="275" r:id="rId7"/>
    <p:sldId id="260" r:id="rId8"/>
    <p:sldId id="261" r:id="rId9"/>
    <p:sldId id="262" r:id="rId10"/>
    <p:sldId id="266" r:id="rId11"/>
    <p:sldId id="268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065208"/>
            <a:ext cx="1027540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5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RNAInsight</a:t>
            </a:r>
            <a:endParaRPr dirty="0"/>
          </a:p>
          <a:p>
            <a:pPr>
              <a:defRPr sz="2900" b="1">
                <a:solidFill>
                  <a:srgbClr val="DCEBFA"/>
                </a:solidFill>
                <a:latin typeface="Aptos Display"/>
              </a:defRPr>
            </a:pPr>
            <a:r>
              <a:rPr lang="en-IN" dirty="0"/>
              <a:t>Machine Learning Based </a:t>
            </a:r>
            <a:r>
              <a:rPr dirty="0"/>
              <a:t>RNA Target-Family Classification</a:t>
            </a:r>
            <a:r>
              <a:rPr lang="en-IN" dirty="0"/>
              <a:t> Using Molecular Descriptors</a:t>
            </a:r>
            <a:endParaRPr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sz="1600" b="1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r>
              <a:rPr lang="en-IN" sz="1600" b="1" dirty="0"/>
              <a:t>Sumedha Phadnis - 24BDS1104</a:t>
            </a:r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r>
              <a:rPr lang="en-IN" sz="1600" b="1" dirty="0"/>
              <a:t>Priyanka J – 24BDS1032</a:t>
            </a:r>
            <a:endParaRPr sz="16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810669" y="5257800"/>
            <a:ext cx="2834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6253" y="5342552"/>
            <a:ext cx="2560320" cy="726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07E5B"/>
                </a:solidFill>
                <a:latin typeface="Aptos Display"/>
              </a:defRPr>
            </a:pPr>
            <a:r>
              <a:rPr dirty="0"/>
              <a:t>57.2%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dirty="0"/>
              <a:t>Best CV accuracy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dirty="0"/>
              <a:t>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3909" y="5257800"/>
            <a:ext cx="2834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9493" y="5342552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B822B"/>
                </a:solidFill>
                <a:latin typeface="Aptos Display"/>
              </a:defRPr>
            </a:pPr>
            <a:r>
              <a:t>62.8%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dirty="0"/>
              <a:t>Best test accuracy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dirty="0"/>
              <a:t>C5.0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t>Feature Engineering &amp; 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From the original molecular descriptor space to a compact, interpretable feature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874519" cy="347472"/>
          </a:xfrm>
          <a:prstGeom prst="round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7710" y="1302816"/>
            <a:ext cx="17395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dirty="0"/>
              <a:t>DESCRIPTOR CONSTRUCTION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64208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92" y="1794408"/>
            <a:ext cx="2737059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7E8C"/>
                </a:solidFill>
                <a:latin typeface="Aptos Display"/>
              </a:defRPr>
            </a:pPr>
            <a:r>
              <a:rPr sz="2400" dirty="0"/>
              <a:t>1</a:t>
            </a:r>
            <a:r>
              <a:rPr lang="en-IN" sz="2400" dirty="0"/>
              <a:t>4</a:t>
            </a:r>
            <a:r>
              <a:rPr sz="2400" dirty="0"/>
              <a:t> descriptors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rPr sz="1050" dirty="0"/>
              <a:t>Retained feature space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rPr sz="900" dirty="0"/>
              <a:t>Molecular / physicochemical descriptors used for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664208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46872" y="1794408"/>
            <a:ext cx="2770310" cy="7617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0A4"/>
                </a:solidFill>
                <a:latin typeface="Aptos Display"/>
              </a:defRPr>
            </a:pPr>
            <a:r>
              <a:rPr sz="2400"/>
              <a:t>RNA family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rPr sz="1050"/>
              <a:t>Target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rPr sz="900"/>
              <a:t>Multi-class classification across RNA target families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64208"/>
            <a:ext cx="305914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0152" y="1794408"/>
            <a:ext cx="2560316" cy="7617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7509D"/>
                </a:solidFill>
                <a:latin typeface="Aptos Display"/>
              </a:defRPr>
            </a:pPr>
            <a:r>
              <a:rPr sz="2400" dirty="0"/>
              <a:t>~6</a:t>
            </a:r>
            <a:r>
              <a:rPr lang="en-IN" sz="2400" dirty="0"/>
              <a:t>0</a:t>
            </a:r>
            <a:r>
              <a:rPr sz="2400" dirty="0"/>
              <a:t>5 + ~145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rPr sz="1050" dirty="0"/>
              <a:t>Validation design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rPr sz="900" dirty="0"/>
              <a:t>Training set with repeated CV + held-out test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71800"/>
            <a:ext cx="2743200" cy="347472"/>
          </a:xfrm>
          <a:prstGeom prst="roundRect">
            <a:avLst/>
          </a:prstGeom>
          <a:solidFill>
            <a:srgbClr val="DB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809" y="3040176"/>
            <a:ext cx="242406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dirty="0"/>
              <a:t>FEATURE SELECTION / REDUNDANCY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525780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Descriptors were retained after a collinearity-filtering step to reduce redundant predictors.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Deeper PCA analysis revealed that PC15 explains exactly 0% of variance, indicating the retained feature matrix has rank 14 rather than 15.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The most likely structural redundancy is </a:t>
            </a:r>
            <a:r>
              <a:rPr dirty="0" err="1"/>
              <a:t>RingCount</a:t>
            </a:r>
            <a:r>
              <a:rPr dirty="0"/>
              <a:t> = </a:t>
            </a:r>
            <a:r>
              <a:rPr dirty="0" err="1"/>
              <a:t>NumAromaticRings</a:t>
            </a:r>
            <a:r>
              <a:rPr dirty="0"/>
              <a:t> + </a:t>
            </a:r>
            <a:r>
              <a:rPr dirty="0" err="1"/>
              <a:t>NumAliphaticRings</a:t>
            </a:r>
            <a:r>
              <a:rPr dirty="0"/>
              <a:t>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This is an algebraic dependency, so a simple pairwise-correlation filter may not remove it.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Recommended refinement: remove </a:t>
            </a:r>
            <a:r>
              <a:rPr dirty="0" err="1"/>
              <a:t>RingCount</a:t>
            </a:r>
            <a:r>
              <a:rPr dirty="0"/>
              <a:t> or one of its component counts and rerun PCA / model training.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71800"/>
            <a:ext cx="3154680" cy="347472"/>
          </a:xfrm>
          <a:prstGeom prst="roundRect">
            <a:avLst/>
          </a:prstGeom>
          <a:solidFill>
            <a:srgbClr val="6750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7898" y="3040176"/>
            <a:ext cx="273504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dirty="0"/>
              <a:t>WHAT THE ANALYSIS SAYS ABOUT THE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429000"/>
            <a:ext cx="5120640" cy="2278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All descriptors showed statistically significant family-level differences under Kruskal–Wallis after BH adjustment.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 err="1"/>
              <a:t>NumAromaticRings</a:t>
            </a:r>
            <a:r>
              <a:rPr dirty="0"/>
              <a:t>, FractionCSP3, </a:t>
            </a:r>
            <a:r>
              <a:rPr dirty="0" err="1"/>
              <a:t>RingCount</a:t>
            </a:r>
            <a:r>
              <a:rPr dirty="0"/>
              <a:t> and </a:t>
            </a:r>
            <a:r>
              <a:rPr dirty="0" err="1"/>
              <a:t>RotatableBonds</a:t>
            </a:r>
            <a:r>
              <a:rPr dirty="0"/>
              <a:t> showed relatively larger univariate effects.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However, univariate statistical ranking and model importance had essentially no agreement: Spearman ρ ≈ 0.004.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Random Forest distributed importance across FractionCSP3, </a:t>
            </a:r>
            <a:r>
              <a:rPr dirty="0" err="1"/>
              <a:t>FlexibilityIndex</a:t>
            </a:r>
            <a:r>
              <a:rPr dirty="0"/>
              <a:t>, </a:t>
            </a:r>
            <a:r>
              <a:rPr dirty="0" err="1"/>
              <a:t>TPSA_per_MW</a:t>
            </a:r>
            <a:r>
              <a:rPr dirty="0"/>
              <a:t> and </a:t>
            </a:r>
            <a:r>
              <a:rPr dirty="0" err="1"/>
              <a:t>MolMR</a:t>
            </a:r>
            <a:r>
              <a:rPr dirty="0"/>
              <a:t>, while C5.0 was dominated by TPSA.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Therefore, feature importance captures multivariate predictive utility, not simply the largest individual group differences.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989320"/>
            <a:ext cx="10744200" cy="411480"/>
          </a:xfrm>
          <a:prstGeom prst="roundRect">
            <a:avLst/>
          </a:prstGeom>
          <a:solidFill>
            <a:srgbClr val="E9F4F6"/>
          </a:solidFill>
          <a:ln>
            <a:solidFill>
              <a:srgbClr val="1C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6044184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19" b="1">
                <a:solidFill>
                  <a:srgbClr val="12223D"/>
                </a:solidFill>
                <a:latin typeface="Aptos"/>
              </a:defRPr>
            </a:pPr>
            <a:r>
              <a:t>Key takeaway: the 15 descriptors contain real signal, but their effective information is highly redundant and concentrated in a small number of latent dimensions.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750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639271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PCA — evidence for an information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The current descriptor space contains signal, but the RNA families overlap heavily.</a:t>
            </a:r>
          </a:p>
        </p:txBody>
      </p:sp>
      <p:pic>
        <p:nvPicPr>
          <p:cNvPr id="6" name="Picture 5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9015"/>
            <a:ext cx="5989319" cy="3994328"/>
          </a:xfrm>
          <a:prstGeom prst="rect">
            <a:avLst/>
          </a:prstGeom>
        </p:spPr>
      </p:pic>
      <p:pic>
        <p:nvPicPr>
          <p:cNvPr id="7" name="Picture 6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81051"/>
            <a:ext cx="5166359" cy="36902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22592" y="5916168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dirty="0"/>
              <a:t>SCREE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777"/>
                </a:solidFill>
              </a:defRPr>
            </a:pPr>
            <a:r>
              <a:t>PC1 + PC2 ≈ 57.6%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852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777"/>
                </a:solidFill>
              </a:defRPr>
            </a:pPr>
            <a:r>
              <a:t>PC1–PC4 ≈ 86.3% variance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6"/>
                </a:solidFill>
                <a:latin typeface="Aptos Display"/>
              </a:defRPr>
            </a:pPr>
            <a:r>
              <a:t>Impact of Upsampling on RNA Family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  <a:latin typeface="Aptos"/>
              </a:defRPr>
            </a:pPr>
            <a:r>
              <a:t>Held-out test set comparison for the five shortlisted models</a:t>
            </a:r>
          </a:p>
        </p:txBody>
      </p:sp>
      <p:pic>
        <p:nvPicPr>
          <p:cNvPr id="4" name="Picture 3" descr="image(20261012-1756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845" y="1234440"/>
            <a:ext cx="8786003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6199632"/>
            <a:ext cx="10972800" cy="475488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3C55"/>
                </a:solidFill>
                <a:latin typeface="Aptos"/>
              </a:defRPr>
            </a:pPr>
            <a:r>
              <a:t>Upsampling trades overall test accuracy for stronger average class recall in C5.0.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6"/>
                </a:solidFill>
                <a:latin typeface="Aptos Display"/>
              </a:defRPr>
            </a:pPr>
            <a:r>
              <a:t>C5.0 Confusion Matrix with Upsampling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  <a:latin typeface="Aptos"/>
              </a:defRPr>
            </a:pPr>
            <a:r>
              <a:t>Held-out test set: 145 RNA records; rows are predicted labels and columns are actual labels</a:t>
            </a:r>
          </a:p>
        </p:txBody>
      </p:sp>
      <p:pic>
        <p:nvPicPr>
          <p:cNvPr id="4" name="Picture 3" descr="image(20261012-1800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73" y="1234440"/>
            <a:ext cx="8706748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6199632"/>
            <a:ext cx="10972800" cy="475488"/>
          </a:xfrm>
          <a:prstGeom prst="round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3C55"/>
                </a:solidFill>
                <a:latin typeface="Aptos"/>
              </a:defRPr>
            </a:pPr>
            <a:r>
              <a:t>Several minority families are recovered better, but most 'Other' records are misclassified and tRNA remains unresolved.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Upsampling: Final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822960"/>
          </a:xfrm>
          <a:prstGeom prst="roundRect">
            <a:avLst/>
          </a:prstGeom>
          <a:solidFill>
            <a:srgbClr val="F3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800" b="1">
                <a:solidFill>
                  <a:srgbClr val="23374B"/>
                </a:solidFill>
                <a:latin typeface="Aptos"/>
              </a:defRPr>
            </a:pPr>
            <a:r>
              <a:t>C5.0 test accuracy: 62.8% → 52.4%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8568"/>
            <a:ext cx="10698480" cy="822960"/>
          </a:xfrm>
          <a:prstGeom prst="roundRect">
            <a:avLst/>
          </a:prstGeom>
          <a:solidFill>
            <a:srgbClr val="F3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800" b="1">
                <a:solidFill>
                  <a:srgbClr val="23374B"/>
                </a:solidFill>
                <a:latin typeface="Aptos"/>
              </a:defRPr>
            </a:pPr>
            <a:r>
              <a:t>C5.0 macro recall: 59.7% → 69.7%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82696"/>
            <a:ext cx="10698480" cy="822960"/>
          </a:xfrm>
          <a:prstGeom prst="roundRect">
            <a:avLst/>
          </a:prstGeom>
          <a:solidFill>
            <a:srgbClr val="F3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500">
                <a:solidFill>
                  <a:srgbClr val="23374B"/>
                </a:solidFill>
                <a:latin typeface="Aptos"/>
              </a:defRPr>
            </a:pPr>
            <a:r>
              <a:t>Improved recall: HCV.IRES: 0% → 80%; HIV.TAR: 58.3% → 83.3%; mRNA: 40% → 80%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06824"/>
            <a:ext cx="10698480" cy="822960"/>
          </a:xfrm>
          <a:prstGeom prst="roundRect">
            <a:avLst/>
          </a:prstGeom>
          <a:solidFill>
            <a:srgbClr val="F3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800">
                <a:solidFill>
                  <a:srgbClr val="23374B"/>
                </a:solidFill>
                <a:latin typeface="Aptos"/>
              </a:defRPr>
            </a:pPr>
            <a:r>
              <a:t>Remaining weakness: Other: 8.8% recall; tRNA: 0%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32120"/>
            <a:ext cx="1054357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8412D"/>
                </a:solidFill>
                <a:latin typeface="Aptos"/>
              </a:defRPr>
            </a:pPr>
            <a:r>
              <a:rPr dirty="0"/>
              <a:t>Conclusion: </a:t>
            </a:r>
            <a:r>
              <a:rPr lang="en-IN" dirty="0"/>
              <a:t>U</a:t>
            </a:r>
            <a:r>
              <a:rPr dirty="0" err="1"/>
              <a:t>psampling</a:t>
            </a:r>
            <a:r>
              <a:rPr dirty="0"/>
              <a:t> is useful when minority-family recognition matters, but it is not universally better. Keep the original and </a:t>
            </a:r>
            <a:r>
              <a:rPr dirty="0" err="1"/>
              <a:t>upsampled</a:t>
            </a:r>
            <a:r>
              <a:rPr dirty="0"/>
              <a:t> experiments clearly labelled.</a:t>
            </a:r>
            <a:endParaRPr lang="en-IN" dirty="0"/>
          </a:p>
          <a:p>
            <a:pPr>
              <a:defRPr sz="1500" b="1">
                <a:solidFill>
                  <a:srgbClr val="78412D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2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559428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Implementation of ML/DL algorithms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67005"/>
              </p:ext>
            </p:extLst>
          </p:nvPr>
        </p:nvGraphicFramePr>
        <p:xfrm>
          <a:off x="996287" y="1396233"/>
          <a:ext cx="10392771" cy="4479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7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652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800"/>
                        <a:t>#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800" dirty="0"/>
                        <a:t>Algorithm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800"/>
                        <a:t>CV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800"/>
                        <a:t>Test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52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1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Random Forest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57.2%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61.4%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52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2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Gradient Boosting (GBM)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57.0%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62.1%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52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3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Bagged CART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56.0%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59.3%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52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4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Neural Network (nnet)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55.3%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 dirty="0"/>
                        <a:t>59.3%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52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5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Decision Tree (C5.0)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/>
                        <a:t>54.5%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sz="2800" dirty="0"/>
                        <a:t>62.8%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6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790979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Cross-validation — primary model-selection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Repeated CV is the more reliable basis for ranking.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3055"/>
            <a:ext cx="6858000" cy="428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995576"/>
            <a:ext cx="4265608" cy="222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Random Forest leads CV at 57.2%; GBM follows at 57.0%.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Bagged CART, Neural Network, C5.0 and KNN also belong to Tier 1.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No Tier 1 pair is statistically distinguishable after adjustment.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GBM is the most stable top model (IQR ≈ 1.9 points).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Fold-to-fold swings of roughly 9–15 points exceed many small rank gaps.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B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699813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Test-set performance &amp; comparative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C5.0 leads the held-out test set, but the gap is small in molecule count.</a:t>
            </a:r>
          </a:p>
        </p:txBody>
      </p:sp>
      <p:pic>
        <p:nvPicPr>
          <p:cNvPr id="6" name="Picture 5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7" y="1234440"/>
            <a:ext cx="5695405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25880"/>
            <a:ext cx="289400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19" y="1444752"/>
            <a:ext cx="170181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B822B"/>
                </a:solidFill>
                <a:latin typeface="Aptos Display"/>
              </a:defRPr>
            </a:pPr>
            <a:r>
              <a:rPr sz="2800" dirty="0"/>
              <a:t>62.8%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 dirty="0"/>
              <a:t>Highest test accuracy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 dirty="0"/>
              <a:t>C5.0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606040"/>
            <a:ext cx="289400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19" y="2724912"/>
            <a:ext cx="1162498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7E8C"/>
                </a:solidFill>
                <a:latin typeface="Aptos Display"/>
              </a:defRPr>
            </a:pPr>
            <a:r>
              <a:rPr sz="2800"/>
              <a:t>62.1%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/>
              <a:t>GBM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/>
              <a:t>≈90 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886200"/>
            <a:ext cx="289400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19" y="4005072"/>
            <a:ext cx="1247714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60A4"/>
                </a:solidFill>
                <a:latin typeface="Aptos Display"/>
              </a:defRPr>
            </a:pPr>
            <a:r>
              <a:rPr sz="2800"/>
              <a:t>61.4%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/>
              <a:t>Random Forest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/>
              <a:t>≈89 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5166360"/>
            <a:ext cx="347472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D2229"/>
                </a:solidFill>
                <a:latin typeface="Aptos"/>
              </a:defRPr>
            </a:pPr>
            <a:r>
              <a:rPr sz="1100" b="1" dirty="0"/>
              <a:t>C5.0, GBM and RF differ by only about 1–2 test molecules.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D2229"/>
                </a:solidFill>
                <a:latin typeface="Aptos"/>
              </a:defRPr>
            </a:pPr>
            <a:r>
              <a:rPr sz="1100" b="1" dirty="0"/>
              <a:t>C5.0's +8.2-point CV-to-test jump is unusually large; the deeper analysis treats this as likely sampling luck.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6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710348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Feature importance — what drives the models?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Feature importance complements the statistical descriptor analysis.</a:t>
            </a:r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035040" cy="45262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12280" y="132588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1444752"/>
            <a:ext cx="2448106" cy="726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60A4"/>
                </a:solidFill>
                <a:latin typeface="Aptos Display"/>
              </a:defRPr>
            </a:pPr>
            <a:r>
              <a:rPr dirty="0" err="1"/>
              <a:t>FractionC</a:t>
            </a:r>
            <a:r>
              <a:rPr lang="en-IN" baseline="-25000" dirty="0" err="1"/>
              <a:t>sp</a:t>
            </a:r>
            <a:r>
              <a:rPr baseline="-25000" dirty="0"/>
              <a:t>3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dirty="0"/>
              <a:t>Top RF features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dirty="0"/>
              <a:t>then </a:t>
            </a:r>
            <a:r>
              <a:rPr dirty="0" err="1"/>
              <a:t>FlexibilityIndex</a:t>
            </a:r>
            <a:r>
              <a:rPr dirty="0"/>
              <a:t>, </a:t>
            </a:r>
            <a:r>
              <a:rPr dirty="0" err="1"/>
              <a:t>TPSA_per_MW</a:t>
            </a:r>
            <a:r>
              <a:rPr dirty="0"/>
              <a:t> and </a:t>
            </a:r>
            <a:r>
              <a:rPr dirty="0" err="1"/>
              <a:t>MolMR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12280" y="2743200"/>
            <a:ext cx="4160520" cy="193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RF spreads importance across multiple descriptors.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C5.0 is dominated by TPSA, showing that different algorithms exploit the same space differently.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Kruskal–Wallis ranking vs model importance has Spearman ρ ≈ 0.004 — effectively no agreement.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Feature selection should therefore consider multivariate predictive value, not only individual statistical significance.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B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597137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Hyperparameter tuning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Tuning changes are small compared with natural cross-validation variability.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1356462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60A4"/>
                </a:solidFill>
                <a:latin typeface="Aptos Display"/>
              </a:defRPr>
            </a:pPr>
            <a:r>
              <a:rPr sz="2800" dirty="0"/>
              <a:t>57.18%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 dirty="0"/>
              <a:t>RF tuned CV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 dirty="0"/>
              <a:t>reported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90472"/>
            <a:ext cx="1356462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7E8C"/>
                </a:solidFill>
                <a:latin typeface="Aptos Display"/>
              </a:defRPr>
            </a:pPr>
            <a:r>
              <a:rPr sz="2800"/>
              <a:t>57.02%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/>
              <a:t>GBM tuned CV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/>
              <a:t>reported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371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59" y="1490472"/>
            <a:ext cx="2540439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B822B"/>
                </a:solidFill>
                <a:latin typeface="Aptos Display"/>
              </a:defRPr>
            </a:pPr>
            <a:r>
              <a:rPr sz="2800"/>
              <a:t>−0.2 to +0.7 pts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/>
              <a:t>Tuning effect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/>
              <a:t>small vs fold variation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1024128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1D2229"/>
                </a:solidFill>
                <a:latin typeface="Aptos"/>
              </a:defRPr>
            </a:pPr>
            <a:r>
              <a:rPr dirty="0"/>
              <a:t>Tuning changes are roughly 4–10× smaller than fold-to-fold standard deviation.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1D2229"/>
                </a:solidFill>
                <a:latin typeface="Aptos"/>
              </a:defRPr>
            </a:pPr>
            <a:r>
              <a:rPr dirty="0"/>
              <a:t>Random Forest's untuned baseline was slightly higher than its tuned score.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1D2229"/>
                </a:solidFill>
                <a:latin typeface="Aptos"/>
              </a:defRPr>
            </a:pPr>
            <a:r>
              <a:rPr dirty="0"/>
              <a:t>This suggests the current ceiling is driven more by feature information than by parameter settings.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1D2229"/>
                </a:solidFill>
                <a:latin typeface="Aptos"/>
              </a:defRPr>
            </a:pPr>
            <a:r>
              <a:rPr dirty="0"/>
              <a:t>Next optimization should target imbalance, validation quality and richer representations.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interpretation of the original benchmark and the upsampling experiment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344168"/>
            <a:ext cx="297180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0A4"/>
                </a:solidFill>
                <a:latin typeface="Aptos Display"/>
              </a:defRPr>
            </a:pPr>
            <a:r>
              <a:rPr dirty="0"/>
              <a:t>57.2%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rPr dirty="0"/>
              <a:t>Best cross-validated model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rPr dirty="0"/>
              <a:t>Random Forest • most reliable overall ranking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344168"/>
            <a:ext cx="297180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B822B"/>
                </a:solidFill>
                <a:latin typeface="Aptos Display"/>
              </a:defRPr>
            </a:pPr>
            <a:r>
              <a:t>62.8%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t>Highest held-out accuracy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t>C5.0 • 91/≈145 test molecules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23444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1344168"/>
            <a:ext cx="2093843" cy="6848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7E5B"/>
                </a:solidFill>
                <a:latin typeface="Aptos Display"/>
              </a:defRPr>
            </a:pPr>
            <a:r>
              <a:rPr lang="en-IN" dirty="0"/>
              <a:t>5 </a:t>
            </a:r>
            <a:r>
              <a:rPr dirty="0"/>
              <a:t>models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rPr dirty="0"/>
              <a:t>Statistically supported top group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rPr dirty="0"/>
              <a:t>RF, GBM, Bagged CART, NN, C5.0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608366"/>
            <a:ext cx="662940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RNA family classification is feasible from the current molecular descriptor set, but performance is moderate rather than near-perfect.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Random Forest and GBM are the most consistent choices across cross-validation and the held-out test set.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C5.0 obtains the highest test accuracy, but its 54.5% CV score and +8.2-point CV-to-test jump make the lead less convincing.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Pairwise CV testing places six models in Tier 1; no Tier-1 pair is statistically distinguishable after adjustment.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Feature-space analysis shows substantial family overlap and only about four effective dimensions, suggesting a representation ceiling.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97424"/>
            <a:ext cx="3982721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Class imbalance causes minority families to be absorbed into “Other.”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Very small classes make some per-class AUC estimates unstable.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The supplied macro-F1 output is internally inconsistent and should not be used for ranking until the metric calculation is fixed.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1D2229"/>
                </a:solidFill>
                <a:latin typeface="Aptos"/>
              </a:defRPr>
            </a:pPr>
            <a:r>
              <a:rPr sz="1600" dirty="0" err="1"/>
              <a:t>XGBoost</a:t>
            </a:r>
            <a:r>
              <a:rPr sz="1600" dirty="0"/>
              <a:t> failed during training and therefore cannot yet be fairly compared.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1085</Words>
  <Application>Microsoft Office PowerPoint</Application>
  <PresentationFormat>Widescreen</PresentationFormat>
  <Paragraphs>146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J</cp:lastModifiedBy>
  <cp:revision>12</cp:revision>
  <dcterms:created xsi:type="dcterms:W3CDTF">2013-01-27T09:14:16Z</dcterms:created>
  <dcterms:modified xsi:type="dcterms:W3CDTF">2026-10-13T07:43:50Z</dcterms:modified>
  <cp:category/>
</cp:coreProperties>
</file>